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263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86/s12911-022-01939-x" TargetMode="Externa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86/s12911-022-01939-x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86/s12911-022-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96187"/>
            <a:ext cx="5800725" cy="90682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3085" marR="1720850" indent="-33655">
              <a:lnSpc>
                <a:spcPct val="137500"/>
              </a:lnSpc>
              <a:spcBef>
                <a:spcPts val="100"/>
              </a:spcBef>
            </a:pPr>
            <a:r>
              <a:rPr sz="1600" b="1" spc="-20" dirty="0">
                <a:latin typeface="Times New Roman"/>
                <a:cs typeface="Times New Roman"/>
              </a:rPr>
              <a:t>SIMATS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ENGINEERING </a:t>
            </a:r>
            <a:r>
              <a:rPr sz="1600" b="1" dirty="0">
                <a:latin typeface="Times New Roman"/>
                <a:cs typeface="Times New Roman"/>
              </a:rPr>
              <a:t>ASSESSMENT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TOOL</a:t>
            </a:r>
            <a:r>
              <a:rPr sz="1600" b="1" spc="-95" dirty="0">
                <a:latin typeface="Times New Roman"/>
                <a:cs typeface="Times New Roman"/>
              </a:rPr>
              <a:t> </a:t>
            </a:r>
            <a:r>
              <a:rPr sz="1600" b="1" spc="-50" dirty="0">
                <a:latin typeface="Times New Roman"/>
                <a:cs typeface="Times New Roman"/>
              </a:rPr>
              <a:t>2</a:t>
            </a:r>
            <a:endParaRPr sz="1600" dirty="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  <a:spcBef>
                <a:spcPts val="740"/>
              </a:spcBef>
              <a:tabLst>
                <a:tab pos="3752850" algn="l"/>
              </a:tabLst>
            </a:pPr>
            <a:r>
              <a:rPr sz="1400" b="1" dirty="0">
                <a:latin typeface="Times New Roman"/>
                <a:cs typeface="Times New Roman"/>
              </a:rPr>
              <a:t>COURSE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NAME: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Artificial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Intelligence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b="1" dirty="0">
                <a:latin typeface="Times New Roman"/>
                <a:cs typeface="Times New Roman"/>
              </a:rPr>
              <a:t>COURSE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CODE: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CSA17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400" b="1" dirty="0">
                <a:latin typeface="Times New Roman"/>
                <a:cs typeface="Times New Roman"/>
              </a:rPr>
              <a:t>COURSE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OUTCOME</a:t>
            </a:r>
            <a:endParaRPr sz="1400" dirty="0">
              <a:latin typeface="Times New Roman"/>
              <a:cs typeface="Times New Roman"/>
            </a:endParaRPr>
          </a:p>
          <a:p>
            <a:pPr marL="12700" marR="105410">
              <a:lnSpc>
                <a:spcPct val="111100"/>
              </a:lnSpc>
              <a:spcBef>
                <a:spcPts val="795"/>
              </a:spcBef>
            </a:pPr>
            <a:r>
              <a:rPr sz="1400" b="1" dirty="0">
                <a:latin typeface="Times New Roman"/>
                <a:cs typeface="Times New Roman"/>
              </a:rPr>
              <a:t>COVERED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CO4: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Implement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machine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learning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techniques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including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decision </a:t>
            </a:r>
            <a:r>
              <a:rPr sz="1400" dirty="0">
                <a:latin typeface="Times New Roman"/>
                <a:cs typeface="Times New Roman"/>
              </a:rPr>
              <a:t>tree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algorithms,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reinforcement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learning,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build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classification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spc="-10" dirty="0">
                <a:latin typeface="Times New Roman"/>
                <a:cs typeface="Times New Roman"/>
              </a:rPr>
              <a:t>decision-</a:t>
            </a:r>
            <a:r>
              <a:rPr sz="1400" dirty="0">
                <a:latin typeface="Times New Roman"/>
                <a:cs typeface="Times New Roman"/>
              </a:rPr>
              <a:t>making.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(BL3)</a:t>
            </a:r>
            <a:endParaRPr sz="1400" dirty="0">
              <a:latin typeface="Times New Roman"/>
              <a:cs typeface="Times New Roman"/>
            </a:endParaRPr>
          </a:p>
          <a:p>
            <a:pPr marL="12700" marR="3239770">
              <a:lnSpc>
                <a:spcPts val="2670"/>
              </a:lnSpc>
              <a:spcBef>
                <a:spcPts val="250"/>
              </a:spcBef>
            </a:pPr>
            <a:r>
              <a:rPr sz="1400" b="1" spc="-10" dirty="0">
                <a:latin typeface="Times New Roman"/>
                <a:cs typeface="Times New Roman"/>
              </a:rPr>
              <a:t>Assessment</a:t>
            </a:r>
            <a:r>
              <a:rPr sz="1400" b="1" spc="-35" dirty="0">
                <a:latin typeface="Times New Roman"/>
                <a:cs typeface="Times New Roman"/>
              </a:rPr>
              <a:t> Tool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Weightage: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50% </a:t>
            </a:r>
            <a:r>
              <a:rPr sz="1400" b="1" dirty="0">
                <a:latin typeface="Times New Roman"/>
                <a:cs typeface="Times New Roman"/>
              </a:rPr>
              <a:t>Code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Conduct: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  <a:tabLst>
                <a:tab pos="466725" algn="l"/>
                <a:tab pos="5787390" algn="l"/>
              </a:tabLst>
            </a:pPr>
            <a:r>
              <a:rPr sz="1400" dirty="0">
                <a:latin typeface="Times New Roman"/>
                <a:cs typeface="Times New Roman"/>
              </a:rPr>
              <a:t>I </a:t>
            </a:r>
            <a:r>
              <a:rPr sz="1400" u="sng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lang="en-US" sz="1400" u="sng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Gundlapalli Charan Teja</a:t>
            </a:r>
            <a:r>
              <a:rPr sz="1400" spc="-90">
                <a:latin typeface="Times New Roman"/>
                <a:cs typeface="Times New Roman"/>
              </a:rPr>
              <a:t> </a:t>
            </a:r>
            <a:r>
              <a:rPr sz="1400" spc="-10">
                <a:latin typeface="Times New Roman"/>
                <a:cs typeface="Times New Roman"/>
              </a:rPr>
              <a:t>(1923</a:t>
            </a:r>
            <a:r>
              <a:rPr lang="en-US" sz="1400" spc="-10">
                <a:latin typeface="Times New Roman"/>
                <a:cs typeface="Times New Roman"/>
              </a:rPr>
              <a:t>72301</a:t>
            </a:r>
            <a:r>
              <a:rPr sz="1400" spc="-10">
                <a:latin typeface="Times New Roman"/>
                <a:cs typeface="Times New Roman"/>
              </a:rPr>
              <a:t>)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400" dirty="0">
                <a:latin typeface="Times New Roman"/>
                <a:cs typeface="Times New Roman"/>
              </a:rPr>
              <a:t>(Name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/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Reg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No)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certify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submission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original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work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have</a:t>
            </a:r>
            <a:endParaRPr sz="1400" dirty="0">
              <a:latin typeface="Times New Roman"/>
              <a:cs typeface="Times New Roman"/>
            </a:endParaRPr>
          </a:p>
          <a:p>
            <a:pPr marL="12700" marR="53975">
              <a:lnSpc>
                <a:spcPct val="110700"/>
              </a:lnSpc>
              <a:spcBef>
                <a:spcPts val="15"/>
              </a:spcBef>
            </a:pPr>
            <a:r>
              <a:rPr sz="1400" dirty="0">
                <a:latin typeface="Times New Roman"/>
                <a:cs typeface="Times New Roman"/>
              </a:rPr>
              <a:t>adhered</a:t>
            </a:r>
            <a:r>
              <a:rPr sz="1400" spc="1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guidelines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specified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assessment.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</a:t>
            </a:r>
            <a:r>
              <a:rPr sz="1400" spc="1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understand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any </a:t>
            </a:r>
            <a:r>
              <a:rPr sz="1400" dirty="0">
                <a:latin typeface="Times New Roman"/>
                <a:cs typeface="Times New Roman"/>
              </a:rPr>
              <a:t>violation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academic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integrity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rules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will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result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disciplinary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action.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400" b="1" dirty="0">
                <a:latin typeface="Times New Roman"/>
                <a:cs typeface="Times New Roman"/>
              </a:rPr>
              <a:t>Signature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student: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195070" marR="57785" indent="-1176655">
              <a:lnSpc>
                <a:spcPct val="110600"/>
              </a:lnSpc>
            </a:pPr>
            <a:r>
              <a:rPr sz="1600" b="1" spc="-20" dirty="0">
                <a:latin typeface="Times New Roman"/>
                <a:cs typeface="Times New Roman"/>
              </a:rPr>
              <a:t>Research</a:t>
            </a:r>
            <a:r>
              <a:rPr sz="1600" b="1" spc="-9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Article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Review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–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Decision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Tree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Based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Machine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Learning </a:t>
            </a:r>
            <a:r>
              <a:rPr sz="1600" b="1" dirty="0">
                <a:latin typeface="Times New Roman"/>
                <a:cs typeface="Times New Roman"/>
              </a:rPr>
              <a:t>for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COVID-</a:t>
            </a:r>
            <a:r>
              <a:rPr sz="1600" b="1" dirty="0">
                <a:latin typeface="Times New Roman"/>
                <a:cs typeface="Times New Roman"/>
              </a:rPr>
              <a:t>19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Mortality</a:t>
            </a:r>
            <a:r>
              <a:rPr sz="1600" b="1" spc="-10" dirty="0">
                <a:latin typeface="Times New Roman"/>
                <a:cs typeface="Times New Roman"/>
              </a:rPr>
              <a:t> Classification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400" b="1" dirty="0">
                <a:latin typeface="Times New Roman"/>
                <a:cs typeface="Times New Roman"/>
              </a:rPr>
              <a:t>Selected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Topic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400" dirty="0">
                <a:latin typeface="Times New Roman"/>
                <a:cs typeface="Times New Roman"/>
              </a:rPr>
              <a:t>Decision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Trees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/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Inductive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Learning</a:t>
            </a:r>
            <a:endParaRPr sz="1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80"/>
              </a:spcBef>
            </a:pPr>
            <a:r>
              <a:rPr sz="1400" b="1" dirty="0">
                <a:latin typeface="Times New Roman"/>
                <a:cs typeface="Times New Roman"/>
              </a:rPr>
              <a:t>Article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Citation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Details</a:t>
            </a:r>
            <a:endParaRPr sz="1400" dirty="0">
              <a:latin typeface="Times New Roman"/>
              <a:cs typeface="Times New Roman"/>
            </a:endParaRPr>
          </a:p>
          <a:p>
            <a:pPr marL="12700" marR="50800" algn="just">
              <a:lnSpc>
                <a:spcPct val="110700"/>
              </a:lnSpc>
              <a:spcBef>
                <a:spcPts val="820"/>
              </a:spcBef>
            </a:pPr>
            <a:r>
              <a:rPr sz="1400" dirty="0">
                <a:latin typeface="Times New Roman"/>
                <a:cs typeface="Times New Roman"/>
              </a:rPr>
              <a:t>Authors:</a:t>
            </a:r>
            <a:r>
              <a:rPr sz="1400" spc="3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Samad</a:t>
            </a:r>
            <a:r>
              <a:rPr sz="1400" spc="3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Moslehi,</a:t>
            </a:r>
            <a:r>
              <a:rPr sz="1400" spc="3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Niloofar</a:t>
            </a:r>
            <a:r>
              <a:rPr sz="1400" spc="3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Rabiei,</a:t>
            </a:r>
            <a:r>
              <a:rPr sz="1400" spc="1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Ali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Reza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Soltanian,</a:t>
            </a:r>
            <a:r>
              <a:rPr sz="1400" spc="3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30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Mojgan Mamani</a:t>
            </a:r>
            <a:endParaRPr sz="1400" dirty="0">
              <a:latin typeface="Times New Roman"/>
              <a:cs typeface="Times New Roman"/>
            </a:endParaRPr>
          </a:p>
          <a:p>
            <a:pPr marL="12700" marR="47625" algn="just">
              <a:lnSpc>
                <a:spcPct val="111100"/>
              </a:lnSpc>
              <a:spcBef>
                <a:spcPts val="800"/>
              </a:spcBef>
            </a:pPr>
            <a:r>
              <a:rPr sz="1400" dirty="0">
                <a:latin typeface="Times New Roman"/>
                <a:cs typeface="Times New Roman"/>
              </a:rPr>
              <a:t>Title:</a:t>
            </a:r>
            <a:r>
              <a:rPr sz="1400" spc="3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Application</a:t>
            </a:r>
            <a:r>
              <a:rPr sz="1400" spc="4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409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machine</a:t>
            </a:r>
            <a:r>
              <a:rPr sz="1400" spc="409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learning</a:t>
            </a:r>
            <a:r>
              <a:rPr sz="1400" spc="409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models</a:t>
            </a:r>
            <a:r>
              <a:rPr sz="1400" spc="4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based</a:t>
            </a:r>
            <a:r>
              <a:rPr sz="1400" spc="4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4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decision</a:t>
            </a:r>
            <a:r>
              <a:rPr sz="1400" spc="4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trees</a:t>
            </a:r>
            <a:r>
              <a:rPr sz="1400" spc="42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in </a:t>
            </a:r>
            <a:r>
              <a:rPr sz="1400" dirty="0">
                <a:latin typeface="Times New Roman"/>
                <a:cs typeface="Times New Roman"/>
              </a:rPr>
              <a:t>classifying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factors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affecting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mortality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COVID-</a:t>
            </a:r>
            <a:r>
              <a:rPr sz="1400" dirty="0">
                <a:latin typeface="Times New Roman"/>
                <a:cs typeface="Times New Roman"/>
              </a:rPr>
              <a:t>19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patients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Hamadan, </a:t>
            </a:r>
            <a:r>
              <a:rPr sz="1400" spc="-20" dirty="0">
                <a:latin typeface="Times New Roman"/>
                <a:cs typeface="Times New Roman"/>
              </a:rPr>
              <a:t>Iran</a:t>
            </a:r>
            <a:endParaRPr sz="1400" dirty="0">
              <a:latin typeface="Times New Roman"/>
              <a:cs typeface="Times New Roman"/>
            </a:endParaRPr>
          </a:p>
          <a:p>
            <a:pPr marL="12700" marR="49530" algn="just">
              <a:lnSpc>
                <a:spcPct val="158600"/>
              </a:lnSpc>
            </a:pPr>
            <a:r>
              <a:rPr sz="1400" spc="-10" dirty="0">
                <a:latin typeface="Times New Roman"/>
                <a:cs typeface="Times New Roman"/>
              </a:rPr>
              <a:t>Journal: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BMC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Medical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Informatics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Decision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Making,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40" dirty="0">
                <a:latin typeface="Times New Roman"/>
                <a:cs typeface="Times New Roman"/>
              </a:rPr>
              <a:t>Volume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40" dirty="0">
                <a:latin typeface="Times New Roman"/>
                <a:cs typeface="Times New Roman"/>
              </a:rPr>
              <a:t>22,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Article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192 </a:t>
            </a:r>
            <a:r>
              <a:rPr sz="1400" dirty="0">
                <a:latin typeface="Times New Roman"/>
                <a:cs typeface="Times New Roman"/>
              </a:rPr>
              <a:t>Publisher: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Springer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Nature</a:t>
            </a:r>
            <a:endParaRPr sz="1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80"/>
              </a:spcBef>
            </a:pPr>
            <a:r>
              <a:rPr sz="1400" spc="-20" dirty="0">
                <a:latin typeface="Times New Roman"/>
                <a:cs typeface="Times New Roman"/>
              </a:rPr>
              <a:t>Year: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2022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400" dirty="0">
                <a:latin typeface="Times New Roman"/>
                <a:cs typeface="Times New Roman"/>
              </a:rPr>
              <a:t>DOI: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  <a:hlinkClick r:id="rId2"/>
              </a:rPr>
              <a:t>https://doi.org/10.1186/s12911-022-01939-</a:t>
            </a:r>
            <a:r>
              <a:rPr sz="1400" spc="-50" dirty="0">
                <a:latin typeface="Times New Roman"/>
                <a:cs typeface="Times New Roman"/>
                <a:hlinkClick r:id="rId2"/>
              </a:rPr>
              <a:t>x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65403"/>
            <a:ext cx="5761355" cy="8858250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400" dirty="0">
                <a:latin typeface="Times New Roman"/>
                <a:cs typeface="Times New Roman"/>
              </a:rPr>
              <a:t>Article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Link: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  <a:hlinkClick r:id="rId2"/>
              </a:rPr>
              <a:t>https://doi.org/10.1186/s12911-022-01939-</a:t>
            </a:r>
            <a:r>
              <a:rPr sz="1400" spc="-50" dirty="0">
                <a:latin typeface="Times New Roman"/>
                <a:cs typeface="Times New Roman"/>
                <a:hlinkClick r:id="rId2"/>
              </a:rPr>
              <a:t>x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400" b="1" spc="-35" dirty="0">
                <a:latin typeface="Times New Roman"/>
                <a:cs typeface="Times New Roman"/>
              </a:rPr>
              <a:t>Task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1:</a:t>
            </a:r>
            <a:r>
              <a:rPr sz="1400" b="1" spc="-9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Article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Summary</a:t>
            </a:r>
            <a:endParaRPr sz="1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85"/>
              </a:spcBef>
            </a:pPr>
            <a:r>
              <a:rPr sz="1400" b="1" dirty="0">
                <a:latin typeface="Times New Roman"/>
                <a:cs typeface="Times New Roman"/>
              </a:rPr>
              <a:t>(a)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Domain/Application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Area</a:t>
            </a:r>
            <a:r>
              <a:rPr sz="1400" b="1" spc="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1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ML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Problem</a:t>
            </a:r>
            <a:endParaRPr sz="1400">
              <a:latin typeface="Times New Roman"/>
              <a:cs typeface="Times New Roman"/>
            </a:endParaRPr>
          </a:p>
          <a:p>
            <a:pPr marL="12700" marR="9525" algn="just">
              <a:lnSpc>
                <a:spcPct val="111100"/>
              </a:lnSpc>
              <a:spcBef>
                <a:spcPts val="795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article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belongs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healthcare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medical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decision-</a:t>
            </a:r>
            <a:r>
              <a:rPr sz="1400" dirty="0">
                <a:latin typeface="Times New Roman"/>
                <a:cs typeface="Times New Roman"/>
              </a:rPr>
              <a:t>support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domain.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It </a:t>
            </a:r>
            <a:r>
              <a:rPr sz="1400" dirty="0">
                <a:latin typeface="Times New Roman"/>
                <a:cs typeface="Times New Roman"/>
              </a:rPr>
              <a:t>focuses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predicting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mortality</a:t>
            </a:r>
            <a:r>
              <a:rPr sz="1400" spc="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among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COVID-</a:t>
            </a:r>
            <a:r>
              <a:rPr sz="1400" dirty="0">
                <a:latin typeface="Times New Roman"/>
                <a:cs typeface="Times New Roman"/>
              </a:rPr>
              <a:t>19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patients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demographic, </a:t>
            </a:r>
            <a:r>
              <a:rPr sz="1400" dirty="0">
                <a:latin typeface="Times New Roman"/>
                <a:cs typeface="Times New Roman"/>
              </a:rPr>
              <a:t>clinical,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laboratory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information.</a:t>
            </a:r>
            <a:endParaRPr sz="1400">
              <a:latin typeface="Times New Roman"/>
              <a:cs typeface="Times New Roman"/>
            </a:endParaRPr>
          </a:p>
          <a:p>
            <a:pPr marL="12700" marR="10795" algn="just">
              <a:lnSpc>
                <a:spcPct val="111000"/>
              </a:lnSpc>
              <a:spcBef>
                <a:spcPts val="800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specific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machine-</a:t>
            </a:r>
            <a:r>
              <a:rPr sz="1400" dirty="0">
                <a:latin typeface="Times New Roman"/>
                <a:cs typeface="Times New Roman"/>
              </a:rPr>
              <a:t>learning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problem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binary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classification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problem: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Class </a:t>
            </a:r>
            <a:r>
              <a:rPr sz="1400" dirty="0">
                <a:latin typeface="Times New Roman"/>
                <a:cs typeface="Times New Roman"/>
              </a:rPr>
              <a:t>0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represents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recovered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patients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Class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represents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deceased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patients.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researchers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wanted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not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only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predict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mortality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but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also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identify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most </a:t>
            </a:r>
            <a:r>
              <a:rPr sz="1400" dirty="0">
                <a:latin typeface="Times New Roman"/>
                <a:cs typeface="Times New Roman"/>
              </a:rPr>
              <a:t>influential</a:t>
            </a:r>
            <a:r>
              <a:rPr sz="1400" spc="8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factors</a:t>
            </a:r>
            <a:r>
              <a:rPr sz="1400" spc="9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associated</a:t>
            </a:r>
            <a:r>
              <a:rPr sz="1400" spc="8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8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death.</a:t>
            </a:r>
            <a:r>
              <a:rPr sz="1400" spc="4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9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study</a:t>
            </a:r>
            <a:r>
              <a:rPr sz="1400" spc="8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therefore</a:t>
            </a:r>
            <a:r>
              <a:rPr sz="1400" spc="85" dirty="0">
                <a:latin typeface="Times New Roman"/>
                <a:cs typeface="Times New Roman"/>
              </a:rPr>
              <a:t>  </a:t>
            </a:r>
            <a:r>
              <a:rPr sz="1400" spc="-10" dirty="0">
                <a:latin typeface="Times New Roman"/>
                <a:cs typeface="Times New Roman"/>
              </a:rPr>
              <a:t>emphasizes </a:t>
            </a:r>
            <a:r>
              <a:rPr sz="1400" dirty="0">
                <a:latin typeface="Times New Roman"/>
                <a:cs typeface="Times New Roman"/>
              </a:rPr>
              <a:t>interpretable</a:t>
            </a:r>
            <a:r>
              <a:rPr sz="1400" spc="3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machine</a:t>
            </a:r>
            <a:r>
              <a:rPr sz="1400" spc="3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learning,</a:t>
            </a:r>
            <a:r>
              <a:rPr sz="1400" spc="3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which</a:t>
            </a:r>
            <a:r>
              <a:rPr sz="1400" spc="3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3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especially</a:t>
            </a:r>
            <a:r>
              <a:rPr sz="1400" spc="3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important</a:t>
            </a:r>
            <a:r>
              <a:rPr sz="1400" spc="3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3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healthcare </a:t>
            </a:r>
            <a:r>
              <a:rPr sz="1400" dirty="0">
                <a:latin typeface="Times New Roman"/>
                <a:cs typeface="Times New Roman"/>
              </a:rPr>
              <a:t>because</a:t>
            </a:r>
            <a:r>
              <a:rPr sz="1400" spc="3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physicians</a:t>
            </a:r>
            <a:r>
              <a:rPr sz="1400" spc="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need</a:t>
            </a:r>
            <a:r>
              <a:rPr sz="1400" spc="3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3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understand</a:t>
            </a:r>
            <a:r>
              <a:rPr sz="1400" spc="3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why</a:t>
            </a:r>
            <a:r>
              <a:rPr sz="1400" spc="3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3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3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produces</a:t>
            </a:r>
            <a:r>
              <a:rPr sz="1400" spc="3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3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particular prediction.</a:t>
            </a:r>
            <a:endParaRPr sz="1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94"/>
              </a:spcBef>
            </a:pPr>
            <a:r>
              <a:rPr sz="1400" b="1" dirty="0">
                <a:latin typeface="Times New Roman"/>
                <a:cs typeface="Times New Roman"/>
              </a:rPr>
              <a:t>(b)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Key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Objective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Research</a:t>
            </a:r>
            <a:r>
              <a:rPr sz="1400" b="1" spc="-25" dirty="0">
                <a:latin typeface="Times New Roman"/>
                <a:cs typeface="Times New Roman"/>
              </a:rPr>
              <a:t> Gap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1000"/>
              </a:lnSpc>
              <a:spcBef>
                <a:spcPts val="800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main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objective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study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was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develop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accurate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interpretable machine-</a:t>
            </a:r>
            <a:r>
              <a:rPr sz="1400" dirty="0">
                <a:latin typeface="Times New Roman"/>
                <a:cs typeface="Times New Roman"/>
              </a:rPr>
              <a:t>learning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classifying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mortality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risk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0" dirty="0">
                <a:latin typeface="Times New Roman"/>
                <a:cs typeface="Times New Roman"/>
              </a:rPr>
              <a:t> COVID-</a:t>
            </a:r>
            <a:r>
              <a:rPr sz="1400" dirty="0">
                <a:latin typeface="Times New Roman"/>
                <a:cs typeface="Times New Roman"/>
              </a:rPr>
              <a:t>19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patients. </a:t>
            </a:r>
            <a:r>
              <a:rPr sz="1400" dirty="0">
                <a:latin typeface="Times New Roman"/>
                <a:cs typeface="Times New Roman"/>
              </a:rPr>
              <a:t>The researchers recognized that many previous studies had used </a:t>
            </a:r>
            <a:r>
              <a:rPr sz="1400" spc="-10" dirty="0">
                <a:latin typeface="Times New Roman"/>
                <a:cs typeface="Times New Roman"/>
              </a:rPr>
              <a:t>machine-</a:t>
            </a:r>
            <a:r>
              <a:rPr sz="1400" dirty="0">
                <a:latin typeface="Times New Roman"/>
                <a:cs typeface="Times New Roman"/>
              </a:rPr>
              <a:t>learning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algorithms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predict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COVID-</a:t>
            </a:r>
            <a:r>
              <a:rPr sz="1400" dirty="0">
                <a:latin typeface="Times New Roman"/>
                <a:cs typeface="Times New Roman"/>
              </a:rPr>
              <a:t>19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mortality,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but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several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them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mainly </a:t>
            </a:r>
            <a:r>
              <a:rPr sz="1400" dirty="0">
                <a:latin typeface="Times New Roman"/>
                <a:cs typeface="Times New Roman"/>
              </a:rPr>
              <a:t>reported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prediction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performance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without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sufficiently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explaining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which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clinical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3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laboratory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factors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were</a:t>
            </a:r>
            <a:r>
              <a:rPr sz="1400" spc="3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responsible</a:t>
            </a:r>
            <a:r>
              <a:rPr sz="1400" spc="3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3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3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predictions.</a:t>
            </a:r>
            <a:r>
              <a:rPr sz="1400" spc="3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created</a:t>
            </a:r>
            <a:r>
              <a:rPr sz="1400" spc="350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a </a:t>
            </a:r>
            <a:r>
              <a:rPr sz="1400" spc="-10" dirty="0">
                <a:latin typeface="Times New Roman"/>
                <a:cs typeface="Times New Roman"/>
              </a:rPr>
              <a:t>research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gap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because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medical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professionals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require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understandable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decision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rules </a:t>
            </a:r>
            <a:r>
              <a:rPr sz="1400" dirty="0">
                <a:latin typeface="Times New Roman"/>
                <a:cs typeface="Times New Roman"/>
              </a:rPr>
              <a:t>rather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than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only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numerical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prediction.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80" dirty="0">
                <a:latin typeface="Times New Roman"/>
                <a:cs typeface="Times New Roman"/>
              </a:rPr>
              <a:t>To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address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gap,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authors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first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used </a:t>
            </a:r>
            <a:r>
              <a:rPr sz="1400" dirty="0">
                <a:latin typeface="Times New Roman"/>
                <a:cs typeface="Times New Roman"/>
              </a:rPr>
              <a:t>Random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Forest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determine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relative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importance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25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demographic,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clinical,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laboratory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features.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Features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more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6%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relative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importance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were </a:t>
            </a:r>
            <a:r>
              <a:rPr sz="1400" spc="-10" dirty="0">
                <a:latin typeface="Times New Roman"/>
                <a:cs typeface="Times New Roman"/>
              </a:rPr>
              <a:t>then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selected.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Four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decision-</a:t>
            </a:r>
            <a:r>
              <a:rPr sz="1400" dirty="0">
                <a:latin typeface="Times New Roman"/>
                <a:cs typeface="Times New Roman"/>
              </a:rPr>
              <a:t>tree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approaches—Logistic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Model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Tree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(LMT),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C4.5, </a:t>
            </a:r>
            <a:r>
              <a:rPr sz="1400" dirty="0">
                <a:latin typeface="Times New Roman"/>
                <a:cs typeface="Times New Roman"/>
              </a:rPr>
              <a:t>C5.0,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30" dirty="0">
                <a:latin typeface="Times New Roman"/>
                <a:cs typeface="Times New Roman"/>
              </a:rPr>
              <a:t>CART—</a:t>
            </a:r>
            <a:r>
              <a:rPr sz="1400" dirty="0">
                <a:latin typeface="Times New Roman"/>
                <a:cs typeface="Times New Roman"/>
              </a:rPr>
              <a:t>were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developed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compared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recall,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accuracy,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F1-</a:t>
            </a:r>
            <a:r>
              <a:rPr sz="1400" dirty="0">
                <a:latin typeface="Times New Roman"/>
                <a:cs typeface="Times New Roman"/>
              </a:rPr>
              <a:t>score.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spc="-45" dirty="0">
                <a:latin typeface="Times New Roman"/>
                <a:cs typeface="Times New Roman"/>
              </a:rPr>
              <a:t>CART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was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ultimately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selected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best-performing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model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converted </a:t>
            </a:r>
            <a:r>
              <a:rPr sz="1400" dirty="0">
                <a:latin typeface="Times New Roman"/>
                <a:cs typeface="Times New Roman"/>
              </a:rPr>
              <a:t>into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interpretable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decision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tree.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The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resulting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identified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age,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gender,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BUN, </a:t>
            </a:r>
            <a:r>
              <a:rPr sz="1400" dirty="0">
                <a:latin typeface="Times New Roman"/>
                <a:cs typeface="Times New Roman"/>
              </a:rPr>
              <a:t>PTT,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SGOT,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 ESR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important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variables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provided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understandable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rules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could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assist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clinicians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prioritizing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high-risk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patients.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400" b="1" spc="-35" dirty="0">
                <a:latin typeface="Times New Roman"/>
                <a:cs typeface="Times New Roman"/>
              </a:rPr>
              <a:t>Task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2:</a:t>
            </a:r>
            <a:r>
              <a:rPr sz="1400" b="1" spc="1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Methodology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Analysis</a:t>
            </a:r>
            <a:endParaRPr sz="1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85"/>
              </a:spcBef>
            </a:pPr>
            <a:r>
              <a:rPr sz="1400" b="1" dirty="0">
                <a:latin typeface="Times New Roman"/>
                <a:cs typeface="Times New Roman"/>
              </a:rPr>
              <a:t>(a)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ML</a:t>
            </a:r>
            <a:r>
              <a:rPr sz="1400" b="1" spc="-9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Techniques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Used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study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combination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Random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Forest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Decision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algorithms.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67510"/>
            <a:ext cx="5758180" cy="8856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985" indent="213360" algn="just">
              <a:lnSpc>
                <a:spcPct val="111000"/>
              </a:lnSpc>
              <a:spcBef>
                <a:spcPts val="95"/>
              </a:spcBef>
              <a:buAutoNum type="arabicPeriod"/>
              <a:tabLst>
                <a:tab pos="226060" algn="l"/>
              </a:tabLst>
            </a:pPr>
            <a:r>
              <a:rPr sz="1400" dirty="0">
                <a:latin typeface="Times New Roman"/>
                <a:cs typeface="Times New Roman"/>
              </a:rPr>
              <a:t>Random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Forest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Feature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Selection:</a:t>
            </a:r>
            <a:r>
              <a:rPr sz="1400" spc="20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researchers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initially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considered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25 </a:t>
            </a:r>
            <a:r>
              <a:rPr sz="1400" dirty="0">
                <a:latin typeface="Times New Roman"/>
                <a:cs typeface="Times New Roman"/>
              </a:rPr>
              <a:t>demographic,</a:t>
            </a:r>
            <a:r>
              <a:rPr sz="1400" spc="3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clinical,</a:t>
            </a:r>
            <a:r>
              <a:rPr sz="1400" spc="3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3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laboratory</a:t>
            </a:r>
            <a:r>
              <a:rPr sz="1400" spc="3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features.</a:t>
            </a:r>
            <a:r>
              <a:rPr sz="1400" spc="3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Random</a:t>
            </a:r>
            <a:r>
              <a:rPr sz="1400" spc="3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Forest</a:t>
            </a:r>
            <a:r>
              <a:rPr sz="1400" spc="3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was</a:t>
            </a:r>
            <a:r>
              <a:rPr sz="1400" spc="3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used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to </a:t>
            </a:r>
            <a:r>
              <a:rPr sz="1400" dirty="0">
                <a:latin typeface="Times New Roman"/>
                <a:cs typeface="Times New Roman"/>
              </a:rPr>
              <a:t>calculate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relative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importance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these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features.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Random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Forest</a:t>
            </a:r>
            <a:r>
              <a:rPr sz="1400" spc="1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model </a:t>
            </a:r>
            <a:r>
              <a:rPr sz="1400" dirty="0">
                <a:latin typeface="Times New Roman"/>
                <a:cs typeface="Times New Roman"/>
              </a:rPr>
              <a:t>consisted</a:t>
            </a:r>
            <a:r>
              <a:rPr sz="1400" spc="3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3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1,000</a:t>
            </a:r>
            <a:r>
              <a:rPr sz="1400" spc="3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trees</a:t>
            </a:r>
            <a:r>
              <a:rPr sz="1400" spc="3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3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used</a:t>
            </a:r>
            <a:r>
              <a:rPr sz="1400" spc="3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3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Gini</a:t>
            </a:r>
            <a:r>
              <a:rPr sz="1400" spc="3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criterion</a:t>
            </a:r>
            <a:r>
              <a:rPr sz="1400" spc="3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3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calculating</a:t>
            </a:r>
            <a:r>
              <a:rPr sz="1400" spc="3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feature </a:t>
            </a:r>
            <a:r>
              <a:rPr sz="1400" dirty="0">
                <a:latin typeface="Times New Roman"/>
                <a:cs typeface="Times New Roman"/>
              </a:rPr>
              <a:t>importance.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Features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having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relative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importance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greater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than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6%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were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selected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next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stage.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1100"/>
              </a:lnSpc>
              <a:spcBef>
                <a:spcPts val="795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six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selected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features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were: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Gender,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Age,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Blood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Urea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Nitrogen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(BUN),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Partial </a:t>
            </a:r>
            <a:r>
              <a:rPr sz="1400" dirty="0">
                <a:latin typeface="Times New Roman"/>
                <a:cs typeface="Times New Roman"/>
              </a:rPr>
              <a:t>Thromboplastin</a:t>
            </a:r>
            <a:r>
              <a:rPr sz="1400" spc="19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Time</a:t>
            </a:r>
            <a:r>
              <a:rPr sz="1400" spc="21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(PTT),</a:t>
            </a:r>
            <a:r>
              <a:rPr sz="1400" spc="21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Serum</a:t>
            </a:r>
            <a:r>
              <a:rPr sz="1400" spc="210" dirty="0">
                <a:latin typeface="Times New Roman"/>
                <a:cs typeface="Times New Roman"/>
              </a:rPr>
              <a:t>  </a:t>
            </a:r>
            <a:r>
              <a:rPr sz="1400" spc="-10" dirty="0">
                <a:latin typeface="Times New Roman"/>
                <a:cs typeface="Times New Roman"/>
              </a:rPr>
              <a:t>Glutamic-</a:t>
            </a:r>
            <a:r>
              <a:rPr sz="1400" dirty="0">
                <a:latin typeface="Times New Roman"/>
                <a:cs typeface="Times New Roman"/>
              </a:rPr>
              <a:t>Oxaloacetic</a:t>
            </a:r>
            <a:r>
              <a:rPr sz="1400" spc="195" dirty="0">
                <a:latin typeface="Times New Roman"/>
                <a:cs typeface="Times New Roman"/>
              </a:rPr>
              <a:t>  </a:t>
            </a:r>
            <a:r>
              <a:rPr sz="1400" spc="-10" dirty="0">
                <a:latin typeface="Times New Roman"/>
                <a:cs typeface="Times New Roman"/>
              </a:rPr>
              <a:t>Transaminase </a:t>
            </a:r>
            <a:r>
              <a:rPr sz="1400" dirty="0">
                <a:latin typeface="Times New Roman"/>
                <a:cs typeface="Times New Roman"/>
              </a:rPr>
              <a:t>(SGOT),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Erythrocyte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Sedimentation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Rate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(ESR).</a:t>
            </a:r>
            <a:endParaRPr sz="1400">
              <a:latin typeface="Times New Roman"/>
              <a:cs typeface="Times New Roman"/>
            </a:endParaRPr>
          </a:p>
          <a:p>
            <a:pPr marL="12700" marR="5715" indent="211454" algn="just">
              <a:lnSpc>
                <a:spcPct val="111100"/>
              </a:lnSpc>
              <a:spcBef>
                <a:spcPts val="800"/>
              </a:spcBef>
              <a:buAutoNum type="arabicPeriod" startAt="2"/>
              <a:tabLst>
                <a:tab pos="224154" algn="l"/>
              </a:tabLst>
            </a:pPr>
            <a:r>
              <a:rPr sz="1400" dirty="0">
                <a:latin typeface="Times New Roman"/>
                <a:cs typeface="Times New Roman"/>
              </a:rPr>
              <a:t>Logistic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(LMT):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LMT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combines</a:t>
            </a:r>
            <a:r>
              <a:rPr sz="1400" spc="229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decision-</a:t>
            </a:r>
            <a:r>
              <a:rPr sz="1400" dirty="0">
                <a:latin typeface="Times New Roman"/>
                <a:cs typeface="Times New Roman"/>
              </a:rPr>
              <a:t>tree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structures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with </a:t>
            </a:r>
            <a:r>
              <a:rPr sz="1400" dirty="0">
                <a:latin typeface="Times New Roman"/>
                <a:cs typeface="Times New Roman"/>
              </a:rPr>
              <a:t>logistic</a:t>
            </a:r>
            <a:r>
              <a:rPr sz="1400" spc="20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regression.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Logistic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regression</a:t>
            </a:r>
            <a:r>
              <a:rPr sz="1400" spc="20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models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fitted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at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</a:t>
            </a:r>
            <a:r>
              <a:rPr sz="1400" spc="2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nodes,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while </a:t>
            </a:r>
            <a:r>
              <a:rPr sz="1400" dirty="0">
                <a:latin typeface="Times New Roman"/>
                <a:cs typeface="Times New Roman"/>
              </a:rPr>
              <a:t>LogitBoost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during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construction.</a:t>
            </a:r>
            <a:endParaRPr sz="1400">
              <a:latin typeface="Times New Roman"/>
              <a:cs typeface="Times New Roman"/>
            </a:endParaRPr>
          </a:p>
          <a:p>
            <a:pPr marL="12700" marR="9525" indent="167640" algn="just">
              <a:lnSpc>
                <a:spcPct val="110700"/>
              </a:lnSpc>
              <a:spcBef>
                <a:spcPts val="805"/>
              </a:spcBef>
              <a:buAutoNum type="arabicPeriod" startAt="2"/>
              <a:tabLst>
                <a:tab pos="180340" algn="l"/>
              </a:tabLst>
            </a:pPr>
            <a:r>
              <a:rPr sz="1400" dirty="0">
                <a:latin typeface="Times New Roman"/>
                <a:cs typeface="Times New Roman"/>
              </a:rPr>
              <a:t>C4.5: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C4.5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extension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ID3.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uses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Information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Gain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Ratio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as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splitting </a:t>
            </a:r>
            <a:r>
              <a:rPr sz="1400" dirty="0">
                <a:latin typeface="Times New Roman"/>
                <a:cs typeface="Times New Roman"/>
              </a:rPr>
              <a:t>criterion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includes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pruning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reduce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unnecessary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branches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overfitting.</a:t>
            </a:r>
            <a:endParaRPr sz="1400">
              <a:latin typeface="Times New Roman"/>
              <a:cs typeface="Times New Roman"/>
            </a:endParaRPr>
          </a:p>
          <a:p>
            <a:pPr marL="12700" marR="10795" indent="187325" algn="just">
              <a:lnSpc>
                <a:spcPct val="111400"/>
              </a:lnSpc>
              <a:spcBef>
                <a:spcPts val="795"/>
              </a:spcBef>
              <a:buAutoNum type="arabicPeriod" startAt="2"/>
              <a:tabLst>
                <a:tab pos="200025" algn="l"/>
              </a:tabLst>
            </a:pPr>
            <a:r>
              <a:rPr sz="1400" dirty="0">
                <a:latin typeface="Times New Roman"/>
                <a:cs typeface="Times New Roman"/>
              </a:rPr>
              <a:t>C5.0: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C5.0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improved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version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C4.5.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create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smaller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trees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is </a:t>
            </a:r>
            <a:r>
              <a:rPr sz="1400" dirty="0">
                <a:latin typeface="Times New Roman"/>
                <a:cs typeface="Times New Roman"/>
              </a:rPr>
              <a:t>designed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improve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computational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efficiency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classification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performance.</a:t>
            </a:r>
            <a:endParaRPr sz="1400">
              <a:latin typeface="Times New Roman"/>
              <a:cs typeface="Times New Roman"/>
            </a:endParaRPr>
          </a:p>
          <a:p>
            <a:pPr marL="12700" marR="9525" indent="186055" algn="just">
              <a:lnSpc>
                <a:spcPct val="110800"/>
              </a:lnSpc>
              <a:spcBef>
                <a:spcPts val="800"/>
              </a:spcBef>
              <a:buAutoNum type="arabicPeriod" startAt="2"/>
              <a:tabLst>
                <a:tab pos="198755" algn="l"/>
              </a:tabLst>
            </a:pPr>
            <a:r>
              <a:rPr sz="1400" spc="-10" dirty="0">
                <a:latin typeface="Times New Roman"/>
                <a:cs typeface="Times New Roman"/>
              </a:rPr>
              <a:t>CART: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CART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stands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Classification and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Regression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Trees.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 study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it </a:t>
            </a:r>
            <a:r>
              <a:rPr sz="1400" dirty="0">
                <a:latin typeface="Times New Roman"/>
                <a:cs typeface="Times New Roman"/>
              </a:rPr>
              <a:t>was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binary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classification.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CART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creates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binary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splits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criteria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such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Gini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index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pruned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cost-complexity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pruning.</a:t>
            </a:r>
            <a:endParaRPr sz="1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94"/>
              </a:spcBef>
            </a:pPr>
            <a:r>
              <a:rPr sz="1400" b="1" dirty="0">
                <a:latin typeface="Times New Roman"/>
                <a:cs typeface="Times New Roman"/>
              </a:rPr>
              <a:t>Dataset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Description</a:t>
            </a:r>
            <a:endParaRPr sz="14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11000"/>
              </a:lnSpc>
              <a:spcBef>
                <a:spcPts val="800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dataset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contained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information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2,470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COVID-</a:t>
            </a:r>
            <a:r>
              <a:rPr sz="1400" dirty="0">
                <a:latin typeface="Times New Roman"/>
                <a:cs typeface="Times New Roman"/>
              </a:rPr>
              <a:t>19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patients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admitted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to </a:t>
            </a:r>
            <a:r>
              <a:rPr sz="1400" dirty="0">
                <a:latin typeface="Times New Roman"/>
                <a:cs typeface="Times New Roman"/>
              </a:rPr>
              <a:t>Sina</a:t>
            </a:r>
            <a:r>
              <a:rPr sz="1400" spc="20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Besat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hospitals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Hamadan,</a:t>
            </a:r>
            <a:r>
              <a:rPr sz="1400" spc="20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western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Iran.</a:t>
            </a:r>
            <a:r>
              <a:rPr sz="1400" spc="1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20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2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were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collected between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February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2020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and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July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2021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from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medical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records.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Patients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had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positive </a:t>
            </a:r>
            <a:r>
              <a:rPr sz="1400" spc="-80" dirty="0">
                <a:latin typeface="Times New Roman"/>
                <a:cs typeface="Times New Roman"/>
              </a:rPr>
              <a:t>RT-</a:t>
            </a:r>
            <a:r>
              <a:rPr sz="1400" dirty="0">
                <a:latin typeface="Times New Roman"/>
                <a:cs typeface="Times New Roman"/>
              </a:rPr>
              <a:t>PCR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results.</a:t>
            </a:r>
            <a:endParaRPr sz="14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11000"/>
              </a:lnSpc>
              <a:spcBef>
                <a:spcPts val="800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original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dataset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contained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25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demographic,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clinical,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laboratory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features. </a:t>
            </a:r>
            <a:r>
              <a:rPr sz="1400" dirty="0">
                <a:latin typeface="Times New Roman"/>
                <a:cs typeface="Times New Roman"/>
              </a:rPr>
              <a:t>Examples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include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age,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gender,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marital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status,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smoking,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diabetes,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hypertension, </a:t>
            </a:r>
            <a:r>
              <a:rPr sz="1400" dirty="0">
                <a:latin typeface="Times New Roman"/>
                <a:cs typeface="Times New Roman"/>
              </a:rPr>
              <a:t>cardiovascular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disease,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lung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disease,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cancer,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neurological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disease,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ESR,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BUN, </a:t>
            </a:r>
            <a:r>
              <a:rPr sz="1400" dirty="0">
                <a:latin typeface="Times New Roman"/>
                <a:cs typeface="Times New Roman"/>
              </a:rPr>
              <a:t>blood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sugar,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CPK,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SGOT,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PTT,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platelets,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sodium,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LDH,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PMN.</a:t>
            </a:r>
            <a:endParaRPr sz="14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11400"/>
              </a:lnSpc>
              <a:spcBef>
                <a:spcPts val="790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target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variable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was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Dead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Recovered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0.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There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were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1,853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recovered </a:t>
            </a:r>
            <a:r>
              <a:rPr sz="1400" dirty="0">
                <a:latin typeface="Times New Roman"/>
                <a:cs typeface="Times New Roman"/>
              </a:rPr>
              <a:t>patients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(75.02%)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617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deceased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patients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(24.98%).</a:t>
            </a:r>
            <a:endParaRPr sz="14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10700"/>
              </a:lnSpc>
              <a:spcBef>
                <a:spcPts val="805"/>
              </a:spcBef>
            </a:pP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preparation,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records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containing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missing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feature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values</a:t>
            </a:r>
            <a:r>
              <a:rPr sz="1400" spc="1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were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removed </a:t>
            </a:r>
            <a:r>
              <a:rPr sz="1400" dirty="0">
                <a:latin typeface="Times New Roman"/>
                <a:cs typeface="Times New Roman"/>
              </a:rPr>
              <a:t>after</a:t>
            </a:r>
            <a:r>
              <a:rPr sz="1400" spc="2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examining</a:t>
            </a:r>
            <a:r>
              <a:rPr sz="1400" spc="2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missing-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2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mechanism.</a:t>
            </a:r>
            <a:r>
              <a:rPr sz="1400" spc="2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Records</a:t>
            </a:r>
            <a:r>
              <a:rPr sz="1400" spc="2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containing</a:t>
            </a:r>
            <a:r>
              <a:rPr sz="1400" spc="2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outliers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or </a:t>
            </a:r>
            <a:r>
              <a:rPr sz="1400" dirty="0">
                <a:latin typeface="Times New Roman"/>
                <a:cs typeface="Times New Roman"/>
              </a:rPr>
              <a:t>illogical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values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were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also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removed.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Random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Forest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feature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selection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was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then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67510"/>
            <a:ext cx="5761355" cy="1310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1000"/>
              </a:lnSpc>
              <a:spcBef>
                <a:spcPts val="95"/>
              </a:spcBef>
            </a:pPr>
            <a:r>
              <a:rPr sz="1400" dirty="0">
                <a:latin typeface="Times New Roman"/>
                <a:cs typeface="Times New Roman"/>
              </a:rPr>
              <a:t>applied,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features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relative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importance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above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6%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were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retained.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were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randomly</a:t>
            </a:r>
            <a:r>
              <a:rPr sz="1400" spc="2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divided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into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training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testing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subsets.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splitting </a:t>
            </a:r>
            <a:r>
              <a:rPr sz="1400" dirty="0">
                <a:latin typeface="Times New Roman"/>
                <a:cs typeface="Times New Roman"/>
              </a:rPr>
              <a:t>process was repeated 10 times to reduce the influence of a single random </a:t>
            </a:r>
            <a:r>
              <a:rPr sz="1400" spc="-10" dirty="0">
                <a:latin typeface="Times New Roman"/>
                <a:cs typeface="Times New Roman"/>
              </a:rPr>
              <a:t>train-</a:t>
            </a:r>
            <a:r>
              <a:rPr sz="1400" dirty="0">
                <a:latin typeface="Times New Roman"/>
                <a:cs typeface="Times New Roman"/>
              </a:rPr>
              <a:t>test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split,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mean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performance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measures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were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reported.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400" b="1" dirty="0">
                <a:latin typeface="Times New Roman"/>
                <a:cs typeface="Times New Roman"/>
              </a:rPr>
              <a:t>(b)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Mapping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to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4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Topics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2301493"/>
          <a:ext cx="5570220" cy="36182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CO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Topic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Connection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Article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4735"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Inductive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Learning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learn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classification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rules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400" spc="2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previously</a:t>
                      </a:r>
                      <a:r>
                        <a:rPr sz="1400" spc="25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observed</a:t>
                      </a:r>
                      <a:r>
                        <a:rPr sz="1400" spc="2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COVID-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7945" marR="64135">
                        <a:lnSpc>
                          <a:spcPct val="1109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19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patient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these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rules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classify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unseen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patients.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7880"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Trees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LMT,</a:t>
                      </a:r>
                      <a:r>
                        <a:rPr sz="1400" spc="3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C4.5,</a:t>
                      </a:r>
                      <a:r>
                        <a:rPr sz="1400" spc="3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C5.0,</a:t>
                      </a:r>
                      <a:r>
                        <a:rPr sz="1400" spc="3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3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CART</a:t>
                      </a:r>
                      <a:r>
                        <a:rPr sz="1400" spc="3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7945" marR="62865">
                        <a:lnSpc>
                          <a:spcPct val="110700"/>
                        </a:lnSpc>
                        <a:spcBef>
                          <a:spcPts val="10"/>
                        </a:spcBef>
                        <a:tabLst>
                          <a:tab pos="904240" algn="l"/>
                          <a:tab pos="1522095" algn="l"/>
                          <a:tab pos="2021839" algn="l"/>
                        </a:tabLst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directly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mortality classification.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4100"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Statistical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Learning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just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LMT</a:t>
                      </a:r>
                      <a:r>
                        <a:rPr sz="1400" spc="450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incorporates</a:t>
                      </a:r>
                      <a:r>
                        <a:rPr sz="1400" spc="455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logistic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7945" marR="59055" algn="just">
                        <a:lnSpc>
                          <a:spcPct val="110700"/>
                        </a:lnSpc>
                        <a:spcBef>
                          <a:spcPts val="1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regression,</a:t>
                      </a:r>
                      <a:r>
                        <a:rPr sz="14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sz="1400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1400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Forest</a:t>
                      </a:r>
                      <a:r>
                        <a:rPr sz="1400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used for statistical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feature-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importance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estimation.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Reinforcement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Learning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directly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research.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5778474"/>
            <a:ext cx="5760085" cy="3850004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80"/>
              </a:spcBef>
            </a:pPr>
            <a:r>
              <a:rPr sz="1400" b="1" dirty="0">
                <a:latin typeface="Times New Roman"/>
                <a:cs typeface="Times New Roman"/>
              </a:rPr>
              <a:t>Methodological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Strength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0900"/>
              </a:lnSpc>
              <a:spcBef>
                <a:spcPts val="805"/>
              </a:spcBef>
            </a:pP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14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major</a:t>
            </a:r>
            <a:r>
              <a:rPr sz="1400" spc="17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strength</a:t>
            </a:r>
            <a:r>
              <a:rPr sz="1400" spc="17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18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interpretability.</a:t>
            </a:r>
            <a:r>
              <a:rPr sz="1400" spc="16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8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final</a:t>
            </a:r>
            <a:r>
              <a:rPr sz="1400" spc="18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CART</a:t>
            </a:r>
            <a:r>
              <a:rPr sz="1400" spc="16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180" dirty="0">
                <a:latin typeface="Times New Roman"/>
                <a:cs typeface="Times New Roman"/>
              </a:rPr>
              <a:t>  </a:t>
            </a:r>
            <a:r>
              <a:rPr sz="1400" spc="-10" dirty="0">
                <a:latin typeface="Times New Roman"/>
                <a:cs typeface="Times New Roman"/>
              </a:rPr>
              <a:t>produces understandable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decision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rules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instead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acting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completely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black-box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model. This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is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particularly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useful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healthcare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because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doctors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can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examine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the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variables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conditions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leading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high-</a:t>
            </a:r>
            <a:r>
              <a:rPr sz="1400" dirty="0">
                <a:latin typeface="Times New Roman"/>
                <a:cs typeface="Times New Roman"/>
              </a:rPr>
              <a:t>risk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prediction. The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researchers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also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compared </a:t>
            </a:r>
            <a:r>
              <a:rPr sz="1400" dirty="0">
                <a:latin typeface="Times New Roman"/>
                <a:cs typeface="Times New Roman"/>
              </a:rPr>
              <a:t>multiple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algorithms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instead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relying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model.</a:t>
            </a:r>
            <a:endParaRPr sz="1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94"/>
              </a:spcBef>
            </a:pPr>
            <a:r>
              <a:rPr sz="1400" b="1" dirty="0">
                <a:latin typeface="Times New Roman"/>
                <a:cs typeface="Times New Roman"/>
              </a:rPr>
              <a:t>Methodological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Limitation</a:t>
            </a:r>
            <a:endParaRPr sz="1400">
              <a:latin typeface="Times New Roman"/>
              <a:cs typeface="Times New Roman"/>
            </a:endParaRPr>
          </a:p>
          <a:p>
            <a:pPr marL="12700" marR="8255" algn="just">
              <a:lnSpc>
                <a:spcPct val="111000"/>
              </a:lnSpc>
              <a:spcBef>
                <a:spcPts val="800"/>
              </a:spcBef>
            </a:pP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1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major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limitation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is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limited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geographic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and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institutional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diversity.</a:t>
            </a:r>
            <a:r>
              <a:rPr sz="1400" spc="-10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The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data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came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</a:t>
            </a:r>
            <a:r>
              <a:rPr sz="1400" spc="5" dirty="0">
                <a:latin typeface="Times New Roman"/>
                <a:cs typeface="Times New Roman"/>
              </a:rPr>
              <a:t>o</a:t>
            </a:r>
            <a:r>
              <a:rPr sz="1400" dirty="0">
                <a:latin typeface="Times New Roman"/>
                <a:cs typeface="Times New Roman"/>
              </a:rPr>
              <a:t>m</a:t>
            </a:r>
            <a:r>
              <a:rPr sz="1400" spc="3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</a:t>
            </a:r>
            <a:r>
              <a:rPr sz="1400" spc="-10" dirty="0">
                <a:latin typeface="Times New Roman"/>
                <a:cs typeface="Times New Roman"/>
              </a:rPr>
              <a:t>nl</a:t>
            </a:r>
            <a:r>
              <a:rPr sz="1400" dirty="0">
                <a:latin typeface="Times New Roman"/>
                <a:cs typeface="Times New Roman"/>
              </a:rPr>
              <a:t>y</a:t>
            </a:r>
            <a:r>
              <a:rPr sz="1400" spc="3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</a:t>
            </a:r>
            <a:r>
              <a:rPr sz="1400" spc="-20" dirty="0">
                <a:latin typeface="Times New Roman"/>
                <a:cs typeface="Times New Roman"/>
              </a:rPr>
              <a:t>w</a:t>
            </a:r>
            <a:r>
              <a:rPr sz="1400" dirty="0">
                <a:latin typeface="Times New Roman"/>
                <a:cs typeface="Times New Roman"/>
              </a:rPr>
              <a:t>o</a:t>
            </a:r>
            <a:r>
              <a:rPr sz="1400" spc="39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hospitals</a:t>
            </a:r>
            <a:r>
              <a:rPr sz="1400" spc="39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Times New Roman"/>
                <a:cs typeface="Times New Roman"/>
              </a:rPr>
              <a:t>n</a:t>
            </a:r>
            <a:r>
              <a:rPr sz="1400" spc="39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Hamadan,</a:t>
            </a:r>
            <a:r>
              <a:rPr sz="1400" spc="3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Ira</a:t>
            </a:r>
            <a:r>
              <a:rPr sz="1400" spc="5" dirty="0">
                <a:latin typeface="Times New Roman"/>
                <a:cs typeface="Times New Roman"/>
              </a:rPr>
              <a:t>n</a:t>
            </a:r>
            <a:r>
              <a:rPr sz="1400" dirty="0">
                <a:latin typeface="Times New Roman"/>
                <a:cs typeface="Times New Roman"/>
              </a:rPr>
              <a:t>.  </a:t>
            </a:r>
            <a:r>
              <a:rPr sz="1400" spc="-10" dirty="0">
                <a:latin typeface="Times New Roman"/>
                <a:cs typeface="Times New Roman"/>
              </a:rPr>
              <a:t>Th</a:t>
            </a:r>
            <a:r>
              <a:rPr sz="1400" dirty="0">
                <a:latin typeface="Times New Roman"/>
                <a:cs typeface="Times New Roman"/>
              </a:rPr>
              <a:t>ere</a:t>
            </a:r>
            <a:r>
              <a:rPr sz="1400" spc="-10" dirty="0">
                <a:latin typeface="Times New Roman"/>
                <a:cs typeface="Times New Roman"/>
              </a:rPr>
              <a:t>f</a:t>
            </a:r>
            <a:r>
              <a:rPr sz="1400" dirty="0">
                <a:latin typeface="Times New Roman"/>
                <a:cs typeface="Times New Roman"/>
              </a:rPr>
              <a:t>ore,</a:t>
            </a:r>
            <a:r>
              <a:rPr sz="1400" spc="3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the</a:t>
            </a:r>
            <a:r>
              <a:rPr sz="1400" spc="3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</a:t>
            </a:r>
            <a:r>
              <a:rPr sz="1400" spc="-10" dirty="0">
                <a:latin typeface="Times New Roman"/>
                <a:cs typeface="Times New Roman"/>
              </a:rPr>
              <a:t>o</a:t>
            </a:r>
            <a:r>
              <a:rPr sz="1400" dirty="0">
                <a:latin typeface="Times New Roman"/>
                <a:cs typeface="Times New Roman"/>
              </a:rPr>
              <a:t>del</a:t>
            </a:r>
            <a:r>
              <a:rPr sz="1400" spc="3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may</a:t>
            </a:r>
            <a:r>
              <a:rPr sz="1400" spc="38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no</a:t>
            </a:r>
            <a:r>
              <a:rPr sz="1400" dirty="0">
                <a:latin typeface="Times New Roman"/>
                <a:cs typeface="Times New Roman"/>
              </a:rPr>
              <a:t>t </a:t>
            </a:r>
            <a:r>
              <a:rPr sz="1400" spc="-10" dirty="0">
                <a:latin typeface="Times New Roman"/>
                <a:cs typeface="Times New Roman"/>
              </a:rPr>
              <a:t>generalize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equally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</a:t>
            </a:r>
            <a:r>
              <a:rPr sz="1400" dirty="0">
                <a:latin typeface="Times New Roman"/>
                <a:cs typeface="Times New Roman"/>
              </a:rPr>
              <a:t>ell</a:t>
            </a:r>
            <a:r>
              <a:rPr sz="1400" spc="-10" dirty="0">
                <a:latin typeface="Times New Roman"/>
                <a:cs typeface="Times New Roman"/>
              </a:rPr>
              <a:t> t</a:t>
            </a:r>
            <a:r>
              <a:rPr sz="1400" dirty="0">
                <a:latin typeface="Times New Roman"/>
                <a:cs typeface="Times New Roman"/>
              </a:rPr>
              <a:t>o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patients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</a:t>
            </a:r>
            <a:r>
              <a:rPr sz="1400" spc="5" dirty="0">
                <a:latin typeface="Times New Roman"/>
                <a:cs typeface="Times New Roman"/>
              </a:rPr>
              <a:t>o</a:t>
            </a:r>
            <a:r>
              <a:rPr sz="1400" dirty="0">
                <a:latin typeface="Times New Roman"/>
                <a:cs typeface="Times New Roman"/>
              </a:rPr>
              <a:t>m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</a:t>
            </a:r>
            <a:r>
              <a:rPr sz="1400" spc="-10" dirty="0">
                <a:latin typeface="Times New Roman"/>
                <a:cs typeface="Times New Roman"/>
              </a:rPr>
              <a:t>th</a:t>
            </a:r>
            <a:r>
              <a:rPr sz="1400" dirty="0">
                <a:latin typeface="Times New Roman"/>
                <a:cs typeface="Times New Roman"/>
              </a:rPr>
              <a:t>er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hospitals,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countries,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ethnic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groups,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healthcare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systems,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or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later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COVID-</a:t>
            </a:r>
            <a:r>
              <a:rPr sz="1400" dirty="0">
                <a:latin typeface="Times New Roman"/>
                <a:cs typeface="Times New Roman"/>
              </a:rPr>
              <a:t>19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variants.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Another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</a:t>
            </a:r>
            <a:r>
              <a:rPr sz="1400" dirty="0">
                <a:latin typeface="Times New Roman"/>
                <a:cs typeface="Times New Roman"/>
              </a:rPr>
              <a:t>i</a:t>
            </a:r>
            <a:r>
              <a:rPr sz="1400" spc="-15" dirty="0">
                <a:latin typeface="Times New Roman"/>
                <a:cs typeface="Times New Roman"/>
              </a:rPr>
              <a:t>m</a:t>
            </a:r>
            <a:r>
              <a:rPr sz="1400" dirty="0">
                <a:latin typeface="Times New Roman"/>
                <a:cs typeface="Times New Roman"/>
              </a:rPr>
              <a:t>i</a:t>
            </a:r>
            <a:r>
              <a:rPr sz="1400" spc="-10" dirty="0">
                <a:latin typeface="Times New Roman"/>
                <a:cs typeface="Times New Roman"/>
              </a:rPr>
              <a:t>t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10" dirty="0">
                <a:latin typeface="Times New Roman"/>
                <a:cs typeface="Times New Roman"/>
              </a:rPr>
              <a:t>t</a:t>
            </a:r>
            <a:r>
              <a:rPr sz="1400" dirty="0">
                <a:latin typeface="Times New Roman"/>
                <a:cs typeface="Times New Roman"/>
              </a:rPr>
              <a:t>i</a:t>
            </a:r>
            <a:r>
              <a:rPr sz="1400" spc="-10" dirty="0">
                <a:latin typeface="Times New Roman"/>
                <a:cs typeface="Times New Roman"/>
              </a:rPr>
              <a:t>o</a:t>
            </a:r>
            <a:r>
              <a:rPr sz="1400" dirty="0">
                <a:latin typeface="Times New Roman"/>
                <a:cs typeface="Times New Roman"/>
              </a:rPr>
              <a:t>n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is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that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some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potentially</a:t>
            </a:r>
            <a:r>
              <a:rPr sz="1400" spc="6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useful</a:t>
            </a:r>
            <a:r>
              <a:rPr sz="1400" spc="6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laboratory</a:t>
            </a:r>
            <a:r>
              <a:rPr sz="1400" spc="6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features</a:t>
            </a:r>
            <a:r>
              <a:rPr sz="1400" spc="6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</a:t>
            </a:r>
            <a:r>
              <a:rPr sz="1400" dirty="0">
                <a:latin typeface="Times New Roman"/>
                <a:cs typeface="Times New Roman"/>
              </a:rPr>
              <a:t>ere</a:t>
            </a:r>
            <a:r>
              <a:rPr sz="1400" spc="6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excluded</a:t>
            </a:r>
            <a:r>
              <a:rPr sz="1400" spc="6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because</a:t>
            </a:r>
            <a:r>
              <a:rPr sz="1400" spc="6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6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missing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information.</a:t>
            </a:r>
            <a:endParaRPr sz="1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85"/>
              </a:spcBef>
            </a:pPr>
            <a:r>
              <a:rPr sz="1400" b="1" spc="-35" dirty="0">
                <a:latin typeface="Times New Roman"/>
                <a:cs typeface="Times New Roman"/>
              </a:rPr>
              <a:t>Task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3: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Results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Critical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Evaluation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9761"/>
            <a:ext cx="11811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(a)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Key </a:t>
            </a:r>
            <a:r>
              <a:rPr sz="1400" b="1" spc="-10" dirty="0">
                <a:latin typeface="Times New Roman"/>
                <a:cs typeface="Times New Roman"/>
              </a:rPr>
              <a:t>Results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1252981"/>
          <a:ext cx="5570220" cy="1722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2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2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2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Recall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F1-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Score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Accuracy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LMT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0.9261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0.8573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0.7689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C4.5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0.9189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0.8608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0.7770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C5.0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0.9261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0.8574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0.7689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CART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0.9550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0.8681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0.7824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2933674"/>
            <a:ext cx="5760085" cy="64566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11100"/>
              </a:lnSpc>
              <a:spcBef>
                <a:spcPts val="105"/>
              </a:spcBef>
            </a:pPr>
            <a:r>
              <a:rPr sz="1400" dirty="0">
                <a:latin typeface="Times New Roman"/>
                <a:cs typeface="Times New Roman"/>
              </a:rPr>
              <a:t>CART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achieved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highest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test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recall,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F1-score,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accuracy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among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four </a:t>
            </a:r>
            <a:r>
              <a:rPr sz="1400" dirty="0">
                <a:latin typeface="Times New Roman"/>
                <a:cs typeface="Times New Roman"/>
              </a:rPr>
              <a:t>compared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models.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Its</a:t>
            </a:r>
            <a:r>
              <a:rPr sz="1400" spc="2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test-</a:t>
            </a:r>
            <a:r>
              <a:rPr sz="1400" dirty="0">
                <a:latin typeface="Times New Roman"/>
                <a:cs typeface="Times New Roman"/>
              </a:rPr>
              <a:t>set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performance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was</a:t>
            </a:r>
            <a:r>
              <a:rPr sz="1400" spc="2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Recall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0.9550,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F1-score</a:t>
            </a:r>
            <a:r>
              <a:rPr sz="1400" spc="260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= </a:t>
            </a:r>
            <a:r>
              <a:rPr sz="1400" dirty="0">
                <a:latin typeface="Times New Roman"/>
                <a:cs typeface="Times New Roman"/>
              </a:rPr>
              <a:t>0.8681,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Accuracy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0.7824.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total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dataset,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CART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achieved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Recall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= </a:t>
            </a:r>
            <a:r>
              <a:rPr sz="1400" dirty="0">
                <a:latin typeface="Times New Roman"/>
                <a:cs typeface="Times New Roman"/>
              </a:rPr>
              <a:t>0.9385,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F1-</a:t>
            </a:r>
            <a:r>
              <a:rPr sz="1400" dirty="0">
                <a:latin typeface="Times New Roman"/>
                <a:cs typeface="Times New Roman"/>
              </a:rPr>
              <a:t>score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0.8667,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and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Accuracy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0.7834.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reported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AUC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CART </a:t>
            </a:r>
            <a:r>
              <a:rPr sz="1400" dirty="0">
                <a:latin typeface="Times New Roman"/>
                <a:cs typeface="Times New Roman"/>
              </a:rPr>
              <a:t>was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79.5%.</a:t>
            </a:r>
            <a:endParaRPr sz="1400">
              <a:latin typeface="Times New Roman"/>
              <a:cs typeface="Times New Roman"/>
            </a:endParaRPr>
          </a:p>
          <a:p>
            <a:pPr marL="12700" marR="10160" algn="just">
              <a:lnSpc>
                <a:spcPct val="111100"/>
              </a:lnSpc>
              <a:spcBef>
                <a:spcPts val="800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final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CART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contained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35</a:t>
            </a:r>
            <a:r>
              <a:rPr sz="1400" spc="20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nodes,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consisting</a:t>
            </a:r>
            <a:r>
              <a:rPr sz="1400" spc="20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one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root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node,</a:t>
            </a:r>
            <a:r>
              <a:rPr sz="1400" spc="20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16 </a:t>
            </a:r>
            <a:r>
              <a:rPr sz="1400" dirty="0">
                <a:latin typeface="Times New Roman"/>
                <a:cs typeface="Times New Roman"/>
              </a:rPr>
              <a:t>internal</a:t>
            </a:r>
            <a:r>
              <a:rPr sz="1400" spc="1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nodes,</a:t>
            </a:r>
            <a:r>
              <a:rPr sz="1400" spc="1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18</a:t>
            </a:r>
            <a:r>
              <a:rPr sz="1400" spc="1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leaf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nodes.</a:t>
            </a:r>
            <a:r>
              <a:rPr sz="1400" spc="1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was</a:t>
            </a:r>
            <a:r>
              <a:rPr sz="1400" spc="1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used</a:t>
            </a:r>
            <a:r>
              <a:rPr sz="1400" spc="1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provide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interpretable mortality-</a:t>
            </a:r>
            <a:r>
              <a:rPr sz="1400" dirty="0">
                <a:latin typeface="Times New Roman"/>
                <a:cs typeface="Times New Roman"/>
              </a:rPr>
              <a:t>risk rules.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reported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branch indicated that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patient above 60 </a:t>
            </a:r>
            <a:r>
              <a:rPr sz="1400" spc="-10" dirty="0">
                <a:latin typeface="Times New Roman"/>
                <a:cs typeface="Times New Roman"/>
              </a:rPr>
              <a:t>years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age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greater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than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SGOT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greater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than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45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had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estimated </a:t>
            </a:r>
            <a:r>
              <a:rPr sz="1400" dirty="0">
                <a:latin typeface="Times New Roman"/>
                <a:cs typeface="Times New Roman"/>
              </a:rPr>
              <a:t>mortality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risk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approximately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62.3%.</a:t>
            </a:r>
            <a:endParaRPr sz="1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85"/>
              </a:spcBef>
            </a:pPr>
            <a:r>
              <a:rPr sz="1400" b="1" dirty="0">
                <a:latin typeface="Times New Roman"/>
                <a:cs typeface="Times New Roman"/>
              </a:rPr>
              <a:t>(b)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Critical</a:t>
            </a:r>
            <a:r>
              <a:rPr sz="1400" b="1" spc="-10" dirty="0">
                <a:latin typeface="Times New Roman"/>
                <a:cs typeface="Times New Roman"/>
              </a:rPr>
              <a:t> Evaluation</a:t>
            </a:r>
            <a:endParaRPr sz="14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11000"/>
              </a:lnSpc>
              <a:spcBef>
                <a:spcPts val="800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results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plausible,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interpretation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requires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caution.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95.5%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recall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attractive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2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medical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mortality-</a:t>
            </a:r>
            <a:r>
              <a:rPr sz="1400" dirty="0">
                <a:latin typeface="Times New Roman"/>
                <a:cs typeface="Times New Roman"/>
              </a:rPr>
              <a:t>prediction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application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because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missing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a </a:t>
            </a:r>
            <a:r>
              <a:rPr sz="1400" spc="-10" dirty="0">
                <a:latin typeface="Times New Roman"/>
                <a:cs typeface="Times New Roman"/>
              </a:rPr>
              <a:t>high-</a:t>
            </a:r>
            <a:r>
              <a:rPr sz="1400" dirty="0">
                <a:latin typeface="Times New Roman"/>
                <a:cs typeface="Times New Roman"/>
              </a:rPr>
              <a:t>risk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patient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more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serious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than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incorrectly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identifying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low-</a:t>
            </a:r>
            <a:r>
              <a:rPr sz="1400" spc="-20" dirty="0">
                <a:latin typeface="Times New Roman"/>
                <a:cs typeface="Times New Roman"/>
              </a:rPr>
              <a:t>risk </a:t>
            </a:r>
            <a:r>
              <a:rPr sz="1400" spc="-10" dirty="0">
                <a:latin typeface="Times New Roman"/>
                <a:cs typeface="Times New Roman"/>
              </a:rPr>
              <a:t>patient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high-risk.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However,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overall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accuracy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only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approximately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78.2%,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AUC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79.5%.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Therefore,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should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not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interpreted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extremely </a:t>
            </a:r>
            <a:r>
              <a:rPr sz="1400" dirty="0">
                <a:latin typeface="Times New Roman"/>
                <a:cs typeface="Times New Roman"/>
              </a:rPr>
              <a:t>accurate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universal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mortality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predictor.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0900"/>
              </a:lnSpc>
              <a:spcBef>
                <a:spcPts val="800"/>
              </a:spcBef>
            </a:pPr>
            <a:r>
              <a:rPr sz="1400" spc="-10" dirty="0">
                <a:latin typeface="Times New Roman"/>
                <a:cs typeface="Times New Roman"/>
              </a:rPr>
              <a:t>Potential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sources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of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bias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include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geographic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bias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because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data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were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obtained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from </a:t>
            </a:r>
            <a:r>
              <a:rPr sz="1400" spc="-10" dirty="0">
                <a:latin typeface="Times New Roman"/>
                <a:cs typeface="Times New Roman"/>
              </a:rPr>
              <a:t>hospitals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Iranian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region;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institutional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bias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because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only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two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hospitals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were </a:t>
            </a:r>
            <a:r>
              <a:rPr sz="1400" dirty="0">
                <a:latin typeface="Times New Roman"/>
                <a:cs typeface="Times New Roman"/>
              </a:rPr>
              <a:t>used; class imbalance because 75.02% recovered while 24.98% died; </a:t>
            </a:r>
            <a:r>
              <a:rPr sz="1400" spc="-10" dirty="0">
                <a:latin typeface="Times New Roman"/>
                <a:cs typeface="Times New Roman"/>
              </a:rPr>
              <a:t>missing-</a:t>
            </a:r>
            <a:r>
              <a:rPr sz="1400" dirty="0">
                <a:latin typeface="Times New Roman"/>
                <a:cs typeface="Times New Roman"/>
              </a:rPr>
              <a:t>feature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bias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because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some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laboratory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variables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were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excluded;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temporal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bias </a:t>
            </a:r>
            <a:r>
              <a:rPr sz="1400" dirty="0">
                <a:latin typeface="Times New Roman"/>
                <a:cs typeface="Times New Roman"/>
              </a:rPr>
              <a:t>because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COVID-</a:t>
            </a:r>
            <a:r>
              <a:rPr sz="1400" dirty="0">
                <a:latin typeface="Times New Roman"/>
                <a:cs typeface="Times New Roman"/>
              </a:rPr>
              <a:t>19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variants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treatment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protocols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changed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over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time.</a:t>
            </a:r>
            <a:endParaRPr sz="1400">
              <a:latin typeface="Times New Roman"/>
              <a:cs typeface="Times New Roman"/>
            </a:endParaRPr>
          </a:p>
          <a:p>
            <a:pPr marL="12700" marR="9525" algn="just">
              <a:lnSpc>
                <a:spcPct val="111100"/>
              </a:lnSpc>
              <a:spcBef>
                <a:spcPts val="795"/>
              </a:spcBef>
            </a:pPr>
            <a:r>
              <a:rPr sz="1400" dirty="0">
                <a:latin typeface="Times New Roman"/>
                <a:cs typeface="Times New Roman"/>
              </a:rPr>
              <a:t>Repeating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random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train-</a:t>
            </a:r>
            <a:r>
              <a:rPr sz="1400" dirty="0">
                <a:latin typeface="Times New Roman"/>
                <a:cs typeface="Times New Roman"/>
              </a:rPr>
              <a:t>test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split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10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times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useful,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stronger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evaluation </a:t>
            </a:r>
            <a:r>
              <a:rPr sz="1400" dirty="0">
                <a:latin typeface="Times New Roman"/>
                <a:cs typeface="Times New Roman"/>
              </a:rPr>
              <a:t>would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involve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external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validation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independent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hospital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geographical </a:t>
            </a:r>
            <a:r>
              <a:rPr sz="1400" dirty="0">
                <a:latin typeface="Times New Roman"/>
                <a:cs typeface="Times New Roman"/>
              </a:rPr>
              <a:t>region.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Additional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useful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metrics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would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include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precision,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specificity,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balanced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67510"/>
            <a:ext cx="5768975" cy="8756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050">
              <a:lnSpc>
                <a:spcPct val="1107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accuracy,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Matthews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correlation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coefficient,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calibration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score,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confidence intervals.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400" b="1" dirty="0">
                <a:latin typeface="Times New Roman"/>
                <a:cs typeface="Times New Roman"/>
              </a:rPr>
              <a:t>Additional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Experiments</a:t>
            </a:r>
            <a:endParaRPr sz="1400">
              <a:latin typeface="Times New Roman"/>
              <a:cs typeface="Times New Roman"/>
            </a:endParaRPr>
          </a:p>
          <a:p>
            <a:pPr marL="12700" marR="2134870">
              <a:lnSpc>
                <a:spcPct val="158600"/>
              </a:lnSpc>
              <a:spcBef>
                <a:spcPts val="15"/>
              </a:spcBef>
            </a:pPr>
            <a:r>
              <a:rPr sz="1400" dirty="0">
                <a:latin typeface="Times New Roman"/>
                <a:cs typeface="Times New Roman"/>
              </a:rPr>
              <a:t>Perform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external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validation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another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hospital. </a:t>
            </a:r>
            <a:r>
              <a:rPr sz="1400" dirty="0">
                <a:latin typeface="Times New Roman"/>
                <a:cs typeface="Times New Roman"/>
              </a:rPr>
              <a:t>Use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stratified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k-fold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cross-validation.</a:t>
            </a:r>
            <a:endParaRPr sz="1400">
              <a:latin typeface="Times New Roman"/>
              <a:cs typeface="Times New Roman"/>
            </a:endParaRPr>
          </a:p>
          <a:p>
            <a:pPr marL="12700" marR="19050">
              <a:lnSpc>
                <a:spcPct val="110700"/>
              </a:lnSpc>
              <a:spcBef>
                <a:spcPts val="805"/>
              </a:spcBef>
            </a:pPr>
            <a:r>
              <a:rPr sz="1400" dirty="0">
                <a:latin typeface="Times New Roman"/>
                <a:cs typeface="Times New Roman"/>
              </a:rPr>
              <a:t>Compare</a:t>
            </a:r>
            <a:r>
              <a:rPr sz="1400" spc="229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CART</a:t>
            </a:r>
            <a:r>
              <a:rPr sz="1400" spc="1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against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Random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Forest,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XGBoost,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SVM,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Naive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Bayes,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Logistic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Regression.</a:t>
            </a:r>
            <a:endParaRPr sz="1400">
              <a:latin typeface="Times New Roman"/>
              <a:cs typeface="Times New Roman"/>
            </a:endParaRPr>
          </a:p>
          <a:p>
            <a:pPr marL="12700" marR="2444750">
              <a:lnSpc>
                <a:spcPts val="2670"/>
              </a:lnSpc>
              <a:spcBef>
                <a:spcPts val="245"/>
              </a:spcBef>
            </a:pPr>
            <a:r>
              <a:rPr sz="1400" dirty="0">
                <a:latin typeface="Times New Roman"/>
                <a:cs typeface="Times New Roman"/>
              </a:rPr>
              <a:t>Conduct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subgroup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analysis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age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gender. </a:t>
            </a:r>
            <a:r>
              <a:rPr sz="1400" dirty="0">
                <a:latin typeface="Times New Roman"/>
                <a:cs typeface="Times New Roman"/>
              </a:rPr>
              <a:t>Evaluate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calibration.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400" spc="-20" dirty="0">
                <a:latin typeface="Times New Roman"/>
                <a:cs typeface="Times New Roman"/>
              </a:rPr>
              <a:t>Test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different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time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period.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400" dirty="0">
                <a:latin typeface="Times New Roman"/>
                <a:cs typeface="Times New Roman"/>
              </a:rPr>
              <a:t>Use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explainability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techniques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such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SHAP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compare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feature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importance.</a:t>
            </a:r>
            <a:endParaRPr sz="1400">
              <a:latin typeface="Times New Roman"/>
              <a:cs typeface="Times New Roman"/>
            </a:endParaRPr>
          </a:p>
          <a:p>
            <a:pPr marL="12700" marR="20320">
              <a:lnSpc>
                <a:spcPct val="111400"/>
              </a:lnSpc>
              <a:spcBef>
                <a:spcPts val="795"/>
              </a:spcBef>
            </a:pPr>
            <a:r>
              <a:rPr sz="1400" dirty="0">
                <a:latin typeface="Times New Roman"/>
                <a:cs typeface="Times New Roman"/>
              </a:rPr>
              <a:t>Investigate</a:t>
            </a:r>
            <a:r>
              <a:rPr sz="1400" spc="11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whether</a:t>
            </a:r>
            <a:r>
              <a:rPr sz="1400" spc="11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incorporating</a:t>
            </a:r>
            <a:r>
              <a:rPr sz="1400" spc="114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additional</a:t>
            </a:r>
            <a:r>
              <a:rPr sz="1400" spc="12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laboratory</a:t>
            </a:r>
            <a:r>
              <a:rPr sz="1400" spc="114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features</a:t>
            </a:r>
            <a:r>
              <a:rPr sz="1400" spc="114" dirty="0">
                <a:latin typeface="Times New Roman"/>
                <a:cs typeface="Times New Roman"/>
              </a:rPr>
              <a:t>  </a:t>
            </a:r>
            <a:r>
              <a:rPr sz="1400" spc="-10" dirty="0">
                <a:latin typeface="Times New Roman"/>
                <a:cs typeface="Times New Roman"/>
              </a:rPr>
              <a:t>improves performance.</a:t>
            </a:r>
            <a:endParaRPr sz="1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85"/>
              </a:spcBef>
            </a:pPr>
            <a:r>
              <a:rPr sz="1400" b="1" dirty="0">
                <a:latin typeface="Times New Roman"/>
                <a:cs typeface="Times New Roman"/>
              </a:rPr>
              <a:t>(c)</a:t>
            </a:r>
            <a:r>
              <a:rPr sz="1400" b="1" spc="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Real-</a:t>
            </a:r>
            <a:r>
              <a:rPr sz="1400" b="1" spc="-25" dirty="0">
                <a:latin typeface="Times New Roman"/>
                <a:cs typeface="Times New Roman"/>
              </a:rPr>
              <a:t>World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Applicability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1000"/>
              </a:lnSpc>
              <a:spcBef>
                <a:spcPts val="795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proposed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technique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deployed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clinical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decision-</a:t>
            </a:r>
            <a:r>
              <a:rPr sz="1400" dirty="0">
                <a:latin typeface="Times New Roman"/>
                <a:cs typeface="Times New Roman"/>
              </a:rPr>
              <a:t>support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system.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A </a:t>
            </a:r>
            <a:r>
              <a:rPr sz="1400" dirty="0">
                <a:latin typeface="Times New Roman"/>
                <a:cs typeface="Times New Roman"/>
              </a:rPr>
              <a:t>hospital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information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could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automatically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receive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patient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information</a:t>
            </a:r>
            <a:r>
              <a:rPr sz="1400" spc="-25" dirty="0">
                <a:latin typeface="Times New Roman"/>
                <a:cs typeface="Times New Roman"/>
              </a:rPr>
              <a:t> and </a:t>
            </a:r>
            <a:r>
              <a:rPr sz="1400" dirty="0">
                <a:latin typeface="Times New Roman"/>
                <a:cs typeface="Times New Roman"/>
              </a:rPr>
              <a:t>laboratory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values,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pass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them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3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CART</a:t>
            </a:r>
            <a:r>
              <a:rPr sz="1400" spc="2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model,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generate</a:t>
            </a:r>
            <a:r>
              <a:rPr sz="1400" spc="2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mortality-</a:t>
            </a:r>
            <a:r>
              <a:rPr sz="1400" spc="-20" dirty="0">
                <a:latin typeface="Times New Roman"/>
                <a:cs typeface="Times New Roman"/>
              </a:rPr>
              <a:t>risk </a:t>
            </a:r>
            <a:r>
              <a:rPr sz="1400" spc="-10" dirty="0">
                <a:latin typeface="Times New Roman"/>
                <a:cs typeface="Times New Roman"/>
              </a:rPr>
              <a:t>category,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produce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clinical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alert.</a:t>
            </a:r>
            <a:endParaRPr sz="1400">
              <a:latin typeface="Times New Roman"/>
              <a:cs typeface="Times New Roman"/>
            </a:endParaRPr>
          </a:p>
          <a:p>
            <a:pPr marL="12700" marR="13335" algn="just">
              <a:lnSpc>
                <a:spcPct val="111000"/>
              </a:lnSpc>
              <a:spcBef>
                <a:spcPts val="800"/>
              </a:spcBef>
            </a:pPr>
            <a:r>
              <a:rPr sz="1400" dirty="0">
                <a:latin typeface="Times New Roman"/>
                <a:cs typeface="Times New Roman"/>
              </a:rPr>
              <a:t>Potential</a:t>
            </a:r>
            <a:r>
              <a:rPr sz="1400" spc="30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applications</a:t>
            </a:r>
            <a:r>
              <a:rPr sz="1400" spc="30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include</a:t>
            </a:r>
            <a:r>
              <a:rPr sz="1400" spc="305" dirty="0">
                <a:latin typeface="Times New Roman"/>
                <a:cs typeface="Times New Roman"/>
              </a:rPr>
              <a:t>  </a:t>
            </a:r>
            <a:r>
              <a:rPr sz="1400" spc="-10" dirty="0">
                <a:latin typeface="Times New Roman"/>
                <a:cs typeface="Times New Roman"/>
              </a:rPr>
              <a:t>emergency-</a:t>
            </a:r>
            <a:r>
              <a:rPr sz="1400" dirty="0">
                <a:latin typeface="Times New Roman"/>
                <a:cs typeface="Times New Roman"/>
              </a:rPr>
              <a:t>room</a:t>
            </a:r>
            <a:r>
              <a:rPr sz="1400" spc="30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triage,</a:t>
            </a:r>
            <a:r>
              <a:rPr sz="1400" spc="30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ICU</a:t>
            </a:r>
            <a:r>
              <a:rPr sz="1400" spc="305" dirty="0">
                <a:latin typeface="Times New Roman"/>
                <a:cs typeface="Times New Roman"/>
              </a:rPr>
              <a:t>  </a:t>
            </a:r>
            <a:r>
              <a:rPr sz="1400" spc="-10" dirty="0">
                <a:latin typeface="Times New Roman"/>
                <a:cs typeface="Times New Roman"/>
              </a:rPr>
              <a:t>admission prioritization,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COVID-</a:t>
            </a:r>
            <a:r>
              <a:rPr sz="1400" dirty="0">
                <a:latin typeface="Times New Roman"/>
                <a:cs typeface="Times New Roman"/>
              </a:rPr>
              <a:t>19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mortality-</a:t>
            </a:r>
            <a:r>
              <a:rPr sz="1400" dirty="0">
                <a:latin typeface="Times New Roman"/>
                <a:cs typeface="Times New Roman"/>
              </a:rPr>
              <a:t>risk</a:t>
            </a:r>
            <a:r>
              <a:rPr sz="1400" spc="-10" dirty="0">
                <a:latin typeface="Times New Roman"/>
                <a:cs typeface="Times New Roman"/>
              </a:rPr>
              <a:t> assessment,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hospital </a:t>
            </a:r>
            <a:r>
              <a:rPr sz="1400" dirty="0">
                <a:latin typeface="Times New Roman"/>
                <a:cs typeface="Times New Roman"/>
              </a:rPr>
              <a:t>resource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allocation, </a:t>
            </a:r>
            <a:r>
              <a:rPr sz="1400" dirty="0">
                <a:latin typeface="Times New Roman"/>
                <a:cs typeface="Times New Roman"/>
              </a:rPr>
              <a:t>early identification of high-risk patients, and supporting physician </a:t>
            </a:r>
            <a:r>
              <a:rPr sz="1400" spc="-10" dirty="0">
                <a:latin typeface="Times New Roman"/>
                <a:cs typeface="Times New Roman"/>
              </a:rPr>
              <a:t>decision-making.</a:t>
            </a:r>
            <a:endParaRPr sz="1400">
              <a:latin typeface="Times New Roman"/>
              <a:cs typeface="Times New Roman"/>
            </a:endParaRPr>
          </a:p>
          <a:p>
            <a:pPr marL="12700" marR="20955" algn="just">
              <a:lnSpc>
                <a:spcPct val="111300"/>
              </a:lnSpc>
              <a:spcBef>
                <a:spcPts val="795"/>
              </a:spcBef>
            </a:pPr>
            <a:r>
              <a:rPr sz="1400" dirty="0">
                <a:latin typeface="Times New Roman"/>
                <a:cs typeface="Times New Roman"/>
              </a:rPr>
              <a:t>Challenges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industrial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scaling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include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availability,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inconsistent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electronic </a:t>
            </a:r>
            <a:r>
              <a:rPr sz="1400" dirty="0">
                <a:latin typeface="Times New Roman"/>
                <a:cs typeface="Times New Roman"/>
              </a:rPr>
              <a:t>medical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record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systems,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missing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incorrect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medical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generalization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across </a:t>
            </a:r>
            <a:r>
              <a:rPr sz="1400" dirty="0">
                <a:latin typeface="Times New Roman"/>
                <a:cs typeface="Times New Roman"/>
              </a:rPr>
              <a:t>hospitals,</a:t>
            </a:r>
            <a:r>
              <a:rPr sz="1400" spc="4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privacy</a:t>
            </a:r>
            <a:r>
              <a:rPr sz="1400" spc="4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protection,</a:t>
            </a:r>
            <a:r>
              <a:rPr sz="1400" spc="4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ethical</a:t>
            </a:r>
            <a:r>
              <a:rPr sz="1400" spc="4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concerns,</a:t>
            </a:r>
            <a:r>
              <a:rPr sz="1400" spc="4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4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drift,</a:t>
            </a:r>
            <a:r>
              <a:rPr sz="1400" spc="4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4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regulatory approval.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400" b="1" spc="-35" dirty="0">
                <a:latin typeface="Times New Roman"/>
                <a:cs typeface="Times New Roman"/>
              </a:rPr>
              <a:t>Task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4: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Reflection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Learning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Outcome</a:t>
            </a:r>
            <a:endParaRPr sz="1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85"/>
              </a:spcBef>
            </a:pPr>
            <a:r>
              <a:rPr sz="1400" b="1" dirty="0">
                <a:latin typeface="Times New Roman"/>
                <a:cs typeface="Times New Roman"/>
              </a:rPr>
              <a:t>(a)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Three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Key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Insights</a:t>
            </a:r>
            <a:endParaRPr sz="1400">
              <a:latin typeface="Times New Roman"/>
              <a:cs typeface="Times New Roman"/>
            </a:endParaRPr>
          </a:p>
          <a:p>
            <a:pPr marL="12700" marR="18415" algn="just">
              <a:lnSpc>
                <a:spcPct val="110700"/>
              </a:lnSpc>
              <a:spcBef>
                <a:spcPts val="805"/>
              </a:spcBef>
            </a:pPr>
            <a:r>
              <a:rPr sz="1400" spc="-5" dirty="0">
                <a:latin typeface="Times New Roman"/>
                <a:cs typeface="Times New Roman"/>
              </a:rPr>
              <a:t>Insight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: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Decision</a:t>
            </a:r>
            <a:r>
              <a:rPr sz="1400" spc="-9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Trees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Provide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Interpretable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Machine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</a:t>
            </a:r>
            <a:r>
              <a:rPr sz="1400" dirty="0">
                <a:latin typeface="Times New Roman"/>
                <a:cs typeface="Times New Roman"/>
              </a:rPr>
              <a:t>ear</a:t>
            </a:r>
            <a:r>
              <a:rPr sz="1400" spc="-5" dirty="0">
                <a:latin typeface="Times New Roman"/>
                <a:cs typeface="Times New Roman"/>
              </a:rPr>
              <a:t>n</a:t>
            </a:r>
            <a:r>
              <a:rPr sz="1400" spc="-10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Times New Roman"/>
                <a:cs typeface="Times New Roman"/>
              </a:rPr>
              <a:t>n</a:t>
            </a:r>
            <a:r>
              <a:rPr sz="1400" spc="-10" dirty="0">
                <a:latin typeface="Times New Roman"/>
                <a:cs typeface="Times New Roman"/>
              </a:rPr>
              <a:t>g</a:t>
            </a:r>
            <a:r>
              <a:rPr sz="1400" dirty="0">
                <a:latin typeface="Times New Roman"/>
                <a:cs typeface="Times New Roman"/>
              </a:rPr>
              <a:t>.</a:t>
            </a:r>
            <a:r>
              <a:rPr sz="1400" spc="-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1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decision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</a:t>
            </a:r>
            <a:r>
              <a:rPr sz="1400" dirty="0">
                <a:latin typeface="Times New Roman"/>
                <a:cs typeface="Times New Roman"/>
              </a:rPr>
              <a:t>ree </a:t>
            </a:r>
            <a:r>
              <a:rPr sz="1400" spc="-10" dirty="0">
                <a:latin typeface="Times New Roman"/>
                <a:cs typeface="Times New Roman"/>
              </a:rPr>
              <a:t>does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</a:t>
            </a:r>
            <a:r>
              <a:rPr sz="1400" dirty="0">
                <a:latin typeface="Times New Roman"/>
                <a:cs typeface="Times New Roman"/>
              </a:rPr>
              <a:t>ot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simply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produce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</a:t>
            </a:r>
            <a:r>
              <a:rPr sz="1400" spc="-15" dirty="0">
                <a:latin typeface="Times New Roman"/>
                <a:cs typeface="Times New Roman"/>
              </a:rPr>
              <a:t>e</a:t>
            </a:r>
            <a:r>
              <a:rPr sz="1400" dirty="0">
                <a:latin typeface="Times New Roman"/>
                <a:cs typeface="Times New Roman"/>
              </a:rPr>
              <a:t>d</a:t>
            </a:r>
            <a:r>
              <a:rPr sz="1400" spc="-10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Times New Roman"/>
                <a:cs typeface="Times New Roman"/>
              </a:rPr>
              <a:t>c</a:t>
            </a:r>
            <a:r>
              <a:rPr sz="1400" spc="-10" dirty="0">
                <a:latin typeface="Times New Roman"/>
                <a:cs typeface="Times New Roman"/>
              </a:rPr>
              <a:t>t</a:t>
            </a:r>
            <a:r>
              <a:rPr sz="1400" dirty="0">
                <a:latin typeface="Times New Roman"/>
                <a:cs typeface="Times New Roman"/>
              </a:rPr>
              <a:t>i</a:t>
            </a:r>
            <a:r>
              <a:rPr sz="1400" spc="-10" dirty="0">
                <a:latin typeface="Times New Roman"/>
                <a:cs typeface="Times New Roman"/>
              </a:rPr>
              <a:t>on</a:t>
            </a:r>
            <a:r>
              <a:rPr sz="1400" dirty="0">
                <a:latin typeface="Times New Roman"/>
                <a:cs typeface="Times New Roman"/>
              </a:rPr>
              <a:t>;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can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show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sequence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decisions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used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67510"/>
            <a:ext cx="5760085" cy="35452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1430" algn="just">
              <a:lnSpc>
                <a:spcPct val="111100"/>
              </a:lnSpc>
              <a:spcBef>
                <a:spcPts val="90"/>
              </a:spcBef>
            </a:pP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reach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prediction.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Connection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4: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directly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relates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Decision </a:t>
            </a:r>
            <a:r>
              <a:rPr sz="1400" spc="-20" dirty="0">
                <a:latin typeface="Times New Roman"/>
                <a:cs typeface="Times New Roman"/>
              </a:rPr>
              <a:t>Trees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Inductive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Learning.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The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learns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rules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training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examples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represents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them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structure.</a:t>
            </a:r>
            <a:endParaRPr sz="1400">
              <a:latin typeface="Times New Roman"/>
              <a:cs typeface="Times New Roman"/>
            </a:endParaRPr>
          </a:p>
          <a:p>
            <a:pPr marL="12700" marR="9525" algn="just">
              <a:lnSpc>
                <a:spcPct val="111000"/>
              </a:lnSpc>
              <a:spcBef>
                <a:spcPts val="800"/>
              </a:spcBef>
            </a:pPr>
            <a:r>
              <a:rPr sz="1400" dirty="0">
                <a:latin typeface="Times New Roman"/>
                <a:cs typeface="Times New Roman"/>
              </a:rPr>
              <a:t>Insight</a:t>
            </a:r>
            <a:r>
              <a:rPr sz="1400" spc="43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2:</a:t>
            </a:r>
            <a:r>
              <a:rPr sz="1400" spc="43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Feature</a:t>
            </a:r>
            <a:r>
              <a:rPr sz="1400" spc="4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Selection</a:t>
            </a:r>
            <a:r>
              <a:rPr sz="1400" spc="43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43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Improve</a:t>
            </a:r>
            <a:r>
              <a:rPr sz="1400" spc="4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Interpretability.</a:t>
            </a:r>
            <a:r>
              <a:rPr sz="1400" spc="3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4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researchers </a:t>
            </a:r>
            <a:r>
              <a:rPr sz="1400" dirty="0">
                <a:latin typeface="Times New Roman"/>
                <a:cs typeface="Times New Roman"/>
              </a:rPr>
              <a:t>initially considered 25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variables but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used Random Forest to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select six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important </a:t>
            </a:r>
            <a:r>
              <a:rPr sz="1400" dirty="0">
                <a:latin typeface="Times New Roman"/>
                <a:cs typeface="Times New Roman"/>
              </a:rPr>
              <a:t>features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before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constructing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final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decision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trees.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Connection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4: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This </a:t>
            </a:r>
            <a:r>
              <a:rPr sz="1400" spc="-10" dirty="0">
                <a:latin typeface="Times New Roman"/>
                <a:cs typeface="Times New Roman"/>
              </a:rPr>
              <a:t>demonstrates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relationship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between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statistical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learning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inductive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learning. </a:t>
            </a:r>
            <a:r>
              <a:rPr sz="1400" dirty="0">
                <a:latin typeface="Times New Roman"/>
                <a:cs typeface="Times New Roman"/>
              </a:rPr>
              <a:t>Feature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selection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reduces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unnecessary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information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creates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simpler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model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easier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understand.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1100"/>
              </a:lnSpc>
              <a:spcBef>
                <a:spcPts val="800"/>
              </a:spcBef>
            </a:pPr>
            <a:r>
              <a:rPr sz="1400" dirty="0">
                <a:latin typeface="Times New Roman"/>
                <a:cs typeface="Times New Roman"/>
              </a:rPr>
              <a:t>Insight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3: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Accuracy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Alone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Enough.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study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reports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accuracy,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recall,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F1-</a:t>
            </a:r>
            <a:r>
              <a:rPr sz="1400" dirty="0">
                <a:latin typeface="Times New Roman"/>
                <a:cs typeface="Times New Roman"/>
              </a:rPr>
              <a:t>score,</a:t>
            </a:r>
            <a:r>
              <a:rPr sz="1400" spc="3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AUC</a:t>
            </a:r>
            <a:r>
              <a:rPr sz="1400" spc="3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rather</a:t>
            </a:r>
            <a:r>
              <a:rPr sz="1400" spc="3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than</a:t>
            </a:r>
            <a:r>
              <a:rPr sz="1400" spc="3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relying</a:t>
            </a:r>
            <a:r>
              <a:rPr sz="1400" spc="3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3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accuracy</a:t>
            </a:r>
            <a:r>
              <a:rPr sz="1400" spc="3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alone.</a:t>
            </a:r>
            <a:r>
              <a:rPr sz="1400" spc="2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3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3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particularly important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because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dataset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contains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substantially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more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recovered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patients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than </a:t>
            </a:r>
            <a:r>
              <a:rPr sz="1400" dirty="0">
                <a:latin typeface="Times New Roman"/>
                <a:cs typeface="Times New Roman"/>
              </a:rPr>
              <a:t>deceased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patients.</a:t>
            </a:r>
            <a:r>
              <a:rPr sz="1400" spc="3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Connection</a:t>
            </a:r>
            <a:r>
              <a:rPr sz="1400" spc="3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3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4:</a:t>
            </a:r>
            <a:r>
              <a:rPr sz="1400" spc="3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3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reinforces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importance</a:t>
            </a:r>
            <a:r>
              <a:rPr sz="1400" spc="35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of </a:t>
            </a:r>
            <a:r>
              <a:rPr sz="1400" dirty="0">
                <a:latin typeface="Times New Roman"/>
                <a:cs typeface="Times New Roman"/>
              </a:rPr>
              <a:t>statistical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evaluation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classification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metrics.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402046"/>
            <a:ext cx="5760085" cy="432244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80"/>
              </a:spcBef>
            </a:pPr>
            <a:r>
              <a:rPr sz="1400" b="1" dirty="0">
                <a:latin typeface="Times New Roman"/>
                <a:cs typeface="Times New Roman"/>
              </a:rPr>
              <a:t>(b)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Proposed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Novel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Extension</a:t>
            </a:r>
            <a:endParaRPr sz="1400">
              <a:latin typeface="Times New Roman"/>
              <a:cs typeface="Times New Roman"/>
            </a:endParaRPr>
          </a:p>
          <a:p>
            <a:pPr marL="12700" marR="12065" algn="just">
              <a:lnSpc>
                <a:spcPct val="111100"/>
              </a:lnSpc>
              <a:spcBef>
                <a:spcPts val="800"/>
              </a:spcBef>
            </a:pPr>
            <a:r>
              <a:rPr sz="1400" dirty="0">
                <a:latin typeface="Times New Roman"/>
                <a:cs typeface="Times New Roman"/>
              </a:rPr>
              <a:t>I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would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extend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research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developing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3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explainable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ensemble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model </a:t>
            </a:r>
            <a:r>
              <a:rPr sz="1400" dirty="0">
                <a:latin typeface="Times New Roman"/>
                <a:cs typeface="Times New Roman"/>
              </a:rPr>
              <a:t>combining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CART,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Random</a:t>
            </a:r>
            <a:r>
              <a:rPr sz="1400" spc="20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Forest,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XGBoost,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followed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validation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on </a:t>
            </a:r>
            <a:r>
              <a:rPr sz="1400" spc="-10" dirty="0">
                <a:latin typeface="Times New Roman"/>
                <a:cs typeface="Times New Roman"/>
              </a:rPr>
              <a:t>COVID-</a:t>
            </a:r>
            <a:r>
              <a:rPr sz="1400" dirty="0">
                <a:latin typeface="Times New Roman"/>
                <a:cs typeface="Times New Roman"/>
              </a:rPr>
              <a:t>19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datasets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multiple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hospitals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geographical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regions.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1000"/>
              </a:lnSpc>
              <a:spcBef>
                <a:spcPts val="800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first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stage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would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same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six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important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variables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identified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original</a:t>
            </a:r>
            <a:r>
              <a:rPr sz="1400" spc="3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research.</a:t>
            </a:r>
            <a:r>
              <a:rPr sz="1400" spc="2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Additional</a:t>
            </a:r>
            <a:r>
              <a:rPr sz="1400" spc="3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clinical</a:t>
            </a:r>
            <a:r>
              <a:rPr sz="1400" spc="3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3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laboratory</a:t>
            </a:r>
            <a:r>
              <a:rPr sz="1400" spc="3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features</a:t>
            </a:r>
            <a:r>
              <a:rPr sz="1400" spc="3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would</a:t>
            </a:r>
            <a:r>
              <a:rPr sz="1400" spc="3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then</a:t>
            </a:r>
            <a:r>
              <a:rPr sz="1400" spc="31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be </a:t>
            </a:r>
            <a:r>
              <a:rPr sz="1400" dirty="0">
                <a:latin typeface="Times New Roman"/>
                <a:cs typeface="Times New Roman"/>
              </a:rPr>
              <a:t>evaluated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feature-</a:t>
            </a:r>
            <a:r>
              <a:rPr sz="1400" dirty="0">
                <a:latin typeface="Times New Roman"/>
                <a:cs typeface="Times New Roman"/>
              </a:rPr>
              <a:t>selection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techniques.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would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trained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using </a:t>
            </a:r>
            <a:r>
              <a:rPr sz="1400" dirty="0">
                <a:latin typeface="Times New Roman"/>
                <a:cs typeface="Times New Roman"/>
              </a:rPr>
              <a:t>stratified </a:t>
            </a:r>
            <a:r>
              <a:rPr sz="1400" spc="-10" dirty="0">
                <a:latin typeface="Times New Roman"/>
                <a:cs typeface="Times New Roman"/>
              </a:rPr>
              <a:t>cross-</a:t>
            </a:r>
            <a:r>
              <a:rPr sz="1400" dirty="0">
                <a:latin typeface="Times New Roman"/>
                <a:cs typeface="Times New Roman"/>
              </a:rPr>
              <a:t>validation and tested on an independent hospital dataset. </a:t>
            </a:r>
            <a:r>
              <a:rPr sz="1400" spc="-10" dirty="0">
                <a:latin typeface="Times New Roman"/>
                <a:cs typeface="Times New Roman"/>
              </a:rPr>
              <a:t>SHAP-based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explanations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could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added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to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determine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how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individual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features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influence </a:t>
            </a:r>
            <a:r>
              <a:rPr sz="1400" dirty="0">
                <a:latin typeface="Times New Roman"/>
                <a:cs typeface="Times New Roman"/>
              </a:rPr>
              <a:t>each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patient's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prediction.</a:t>
            </a:r>
            <a:endParaRPr sz="1400">
              <a:latin typeface="Times New Roman"/>
              <a:cs typeface="Times New Roman"/>
            </a:endParaRPr>
          </a:p>
          <a:p>
            <a:pPr marL="12700" marR="11430" algn="just">
              <a:lnSpc>
                <a:spcPct val="111000"/>
              </a:lnSpc>
              <a:spcBef>
                <a:spcPts val="800"/>
              </a:spcBef>
            </a:pP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extension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feasible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because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original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study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already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demonstrates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that </a:t>
            </a:r>
            <a:r>
              <a:rPr sz="1400" spc="-10" dirty="0">
                <a:latin typeface="Times New Roman"/>
                <a:cs typeface="Times New Roman"/>
              </a:rPr>
              <a:t>tree-</a:t>
            </a:r>
            <a:r>
              <a:rPr sz="1400" dirty="0">
                <a:latin typeface="Times New Roman"/>
                <a:cs typeface="Times New Roman"/>
              </a:rPr>
              <a:t>based</a:t>
            </a:r>
            <a:r>
              <a:rPr sz="1400" spc="4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methods</a:t>
            </a:r>
            <a:r>
              <a:rPr sz="1400" spc="4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4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classify</a:t>
            </a:r>
            <a:r>
              <a:rPr sz="1400" spc="4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mortality</a:t>
            </a:r>
            <a:r>
              <a:rPr sz="1400" spc="4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4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routine</a:t>
            </a:r>
            <a:r>
              <a:rPr sz="1400" spc="4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demographic</a:t>
            </a:r>
            <a:r>
              <a:rPr sz="1400" spc="47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laboratory</a:t>
            </a:r>
            <a:r>
              <a:rPr sz="1400" spc="4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information.</a:t>
            </a:r>
            <a:r>
              <a:rPr sz="1400" spc="4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Ensemble</a:t>
            </a:r>
            <a:r>
              <a:rPr sz="1400" spc="43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</a:t>
            </a:r>
            <a:r>
              <a:rPr sz="1400" spc="4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algorithms</a:t>
            </a:r>
            <a:r>
              <a:rPr sz="1400" spc="43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43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also</a:t>
            </a:r>
            <a:r>
              <a:rPr sz="1400" spc="4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computationally </a:t>
            </a:r>
            <a:r>
              <a:rPr sz="1400" dirty="0">
                <a:latin typeface="Times New Roman"/>
                <a:cs typeface="Times New Roman"/>
              </a:rPr>
              <a:t>practical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structured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medical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datasets.</a:t>
            </a:r>
            <a:endParaRPr sz="1400">
              <a:latin typeface="Times New Roman"/>
              <a:cs typeface="Times New Roman"/>
            </a:endParaRPr>
          </a:p>
          <a:p>
            <a:pPr marL="12700" marR="10795" algn="just">
              <a:lnSpc>
                <a:spcPct val="110700"/>
              </a:lnSpc>
              <a:spcBef>
                <a:spcPts val="800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expected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impact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includes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higher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predictive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reliability,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better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generalization </a:t>
            </a:r>
            <a:r>
              <a:rPr sz="1400" dirty="0">
                <a:latin typeface="Times New Roman"/>
                <a:cs typeface="Times New Roman"/>
              </a:rPr>
              <a:t>across</a:t>
            </a:r>
            <a:r>
              <a:rPr sz="1400" spc="4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hospitals,</a:t>
            </a:r>
            <a:r>
              <a:rPr sz="1400" spc="48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more</a:t>
            </a:r>
            <a:r>
              <a:rPr sz="1400" spc="48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robust</a:t>
            </a:r>
            <a:r>
              <a:rPr sz="1400" spc="4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feature</a:t>
            </a:r>
            <a:r>
              <a:rPr sz="1400" spc="4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importance,</a:t>
            </a:r>
            <a:r>
              <a:rPr sz="1400" spc="48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better</a:t>
            </a:r>
            <a:r>
              <a:rPr sz="1400" spc="4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understanding</a:t>
            </a:r>
            <a:r>
              <a:rPr sz="1400" spc="48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of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67510"/>
            <a:ext cx="5761355" cy="6318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875" algn="just">
              <a:lnSpc>
                <a:spcPct val="1107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individual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predictions,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reduced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risk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relying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decision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stronger </a:t>
            </a:r>
            <a:r>
              <a:rPr sz="1400" dirty="0">
                <a:latin typeface="Times New Roman"/>
                <a:cs typeface="Times New Roman"/>
              </a:rPr>
              <a:t>evidence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real-</a:t>
            </a:r>
            <a:r>
              <a:rPr sz="1400" dirty="0">
                <a:latin typeface="Times New Roman"/>
                <a:cs typeface="Times New Roman"/>
              </a:rPr>
              <a:t>world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clinical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deployment.</a:t>
            </a:r>
            <a:endParaRPr sz="1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80"/>
              </a:spcBef>
            </a:pPr>
            <a:r>
              <a:rPr sz="1400" b="1" dirty="0">
                <a:latin typeface="Times New Roman"/>
                <a:cs typeface="Times New Roman"/>
              </a:rPr>
              <a:t>Overall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Critical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Review</a:t>
            </a:r>
            <a:endParaRPr sz="14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11000"/>
              </a:lnSpc>
              <a:spcBef>
                <a:spcPts val="815"/>
              </a:spcBef>
            </a:pPr>
            <a:r>
              <a:rPr sz="1400" dirty="0">
                <a:latin typeface="Times New Roman"/>
                <a:cs typeface="Times New Roman"/>
              </a:rPr>
              <a:t>The article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provides a strong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example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 applying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Decision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Inductive </a:t>
            </a:r>
            <a:r>
              <a:rPr sz="1400" dirty="0">
                <a:latin typeface="Times New Roman"/>
                <a:cs typeface="Times New Roman"/>
              </a:rPr>
              <a:t>Learning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real-world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healthcare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classification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problem.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major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contribution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not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simply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obtaining</a:t>
            </a:r>
            <a:r>
              <a:rPr sz="1400" spc="2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prediction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but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producing</a:t>
            </a:r>
            <a:r>
              <a:rPr sz="1400" spc="2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2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interpretable</a:t>
            </a:r>
            <a:r>
              <a:rPr sz="1400" spc="2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decision </a:t>
            </a:r>
            <a:r>
              <a:rPr sz="1400" dirty="0">
                <a:latin typeface="Times New Roman"/>
                <a:cs typeface="Times New Roman"/>
              </a:rPr>
              <a:t>structure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help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clinicians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understand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important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mortality-</a:t>
            </a:r>
            <a:r>
              <a:rPr sz="1400" dirty="0">
                <a:latin typeface="Times New Roman"/>
                <a:cs typeface="Times New Roman"/>
              </a:rPr>
              <a:t>related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factors.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combination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Random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Forest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feature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selection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LMT,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C4.5,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C5.0,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spc="-20" dirty="0">
                <a:latin typeface="Times New Roman"/>
                <a:cs typeface="Times New Roman"/>
              </a:rPr>
              <a:t>CART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useful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comparative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methodology.</a:t>
            </a:r>
            <a:endParaRPr sz="1400">
              <a:latin typeface="Times New Roman"/>
              <a:cs typeface="Times New Roman"/>
            </a:endParaRPr>
          </a:p>
          <a:p>
            <a:pPr marL="12700" marR="8890" algn="just">
              <a:lnSpc>
                <a:spcPct val="111000"/>
              </a:lnSpc>
              <a:spcBef>
                <a:spcPts val="800"/>
              </a:spcBef>
            </a:pPr>
            <a:r>
              <a:rPr sz="1400" spc="-25" dirty="0">
                <a:latin typeface="Times New Roman"/>
                <a:cs typeface="Times New Roman"/>
              </a:rPr>
              <a:t>CART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produced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best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reported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test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performance,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accuracy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78.24%, F1-</a:t>
            </a:r>
            <a:r>
              <a:rPr sz="1400" dirty="0">
                <a:latin typeface="Times New Roman"/>
                <a:cs typeface="Times New Roman"/>
              </a:rPr>
              <a:t>score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 86.81%,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recall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95.50%,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AUC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79.5%.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However,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results </a:t>
            </a:r>
            <a:r>
              <a:rPr sz="1400" dirty="0">
                <a:latin typeface="Times New Roman"/>
                <a:cs typeface="Times New Roman"/>
              </a:rPr>
              <a:t>should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not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generalized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directly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COVID-</a:t>
            </a:r>
            <a:r>
              <a:rPr sz="1400" dirty="0">
                <a:latin typeface="Times New Roman"/>
                <a:cs typeface="Times New Roman"/>
              </a:rPr>
              <a:t>19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populations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because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dataset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was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collected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only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two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hospitals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Hamadan.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External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validation, </a:t>
            </a:r>
            <a:r>
              <a:rPr sz="1400" dirty="0">
                <a:latin typeface="Times New Roman"/>
                <a:cs typeface="Times New Roman"/>
              </a:rPr>
              <a:t>larger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multi-</a:t>
            </a:r>
            <a:r>
              <a:rPr sz="1400" dirty="0">
                <a:latin typeface="Times New Roman"/>
                <a:cs typeface="Times New Roman"/>
              </a:rPr>
              <a:t>center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datasets,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calibration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analysis,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comparison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modern </a:t>
            </a:r>
            <a:r>
              <a:rPr sz="1400" dirty="0">
                <a:latin typeface="Times New Roman"/>
                <a:cs typeface="Times New Roman"/>
              </a:rPr>
              <a:t>ensemble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methods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would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make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conclusions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stronger.</a:t>
            </a:r>
            <a:endParaRPr sz="14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10700"/>
              </a:lnSpc>
              <a:spcBef>
                <a:spcPts val="805"/>
              </a:spcBef>
            </a:pPr>
            <a:r>
              <a:rPr sz="1400" dirty="0">
                <a:latin typeface="Times New Roman"/>
                <a:cs typeface="Times New Roman"/>
              </a:rPr>
              <a:t>Overall,</a:t>
            </a:r>
            <a:r>
              <a:rPr sz="1400" spc="2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research</a:t>
            </a:r>
            <a:r>
              <a:rPr sz="1400" spc="2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demonstrates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how</a:t>
            </a:r>
            <a:r>
              <a:rPr sz="1400" spc="2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inductive</a:t>
            </a:r>
            <a:r>
              <a:rPr sz="1400" spc="2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learning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decision-</a:t>
            </a:r>
            <a:r>
              <a:rPr sz="1400" spc="-20" dirty="0">
                <a:latin typeface="Times New Roman"/>
                <a:cs typeface="Times New Roman"/>
              </a:rPr>
              <a:t>tree </a:t>
            </a:r>
            <a:r>
              <a:rPr sz="1400" dirty="0">
                <a:latin typeface="Times New Roman"/>
                <a:cs typeface="Times New Roman"/>
              </a:rPr>
              <a:t>techniques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transform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clinical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into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interpretable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classification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rules, </a:t>
            </a:r>
            <a:r>
              <a:rPr sz="1400" dirty="0">
                <a:latin typeface="Times New Roman"/>
                <a:cs typeface="Times New Roman"/>
              </a:rPr>
              <a:t>making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suitable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relevant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article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400" b="1" spc="-10" dirty="0">
                <a:latin typeface="Times New Roman"/>
                <a:cs typeface="Times New Roman"/>
              </a:rPr>
              <a:t>Reference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0900"/>
              </a:lnSpc>
              <a:spcBef>
                <a:spcPts val="815"/>
              </a:spcBef>
            </a:pPr>
            <a:r>
              <a:rPr sz="1400" dirty="0">
                <a:latin typeface="Times New Roman"/>
                <a:cs typeface="Times New Roman"/>
              </a:rPr>
              <a:t>Moslehi,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S.,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Rabiei,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N.,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Soltanian,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A.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R.,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&amp;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Mamani,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M.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(2022).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Application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of </a:t>
            </a:r>
            <a:r>
              <a:rPr sz="1400" dirty="0">
                <a:latin typeface="Times New Roman"/>
                <a:cs typeface="Times New Roman"/>
              </a:rPr>
              <a:t>machine</a:t>
            </a:r>
            <a:r>
              <a:rPr sz="1400" spc="3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learning</a:t>
            </a:r>
            <a:r>
              <a:rPr sz="1400" spc="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models</a:t>
            </a:r>
            <a:r>
              <a:rPr sz="1400" spc="3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based</a:t>
            </a:r>
            <a:r>
              <a:rPr sz="1400" spc="3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3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decision</a:t>
            </a:r>
            <a:r>
              <a:rPr sz="1400" spc="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trees</a:t>
            </a:r>
            <a:r>
              <a:rPr sz="1400" spc="3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classifying</a:t>
            </a:r>
            <a:r>
              <a:rPr sz="1400" spc="3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3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factors </a:t>
            </a:r>
            <a:r>
              <a:rPr sz="1400" dirty="0">
                <a:latin typeface="Times New Roman"/>
                <a:cs typeface="Times New Roman"/>
              </a:rPr>
              <a:t>affecting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mortality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30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COVID-</a:t>
            </a:r>
            <a:r>
              <a:rPr sz="1400" dirty="0">
                <a:latin typeface="Times New Roman"/>
                <a:cs typeface="Times New Roman"/>
              </a:rPr>
              <a:t>19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patients</a:t>
            </a:r>
            <a:r>
              <a:rPr sz="1400" spc="3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3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Hamadan,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Iran.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BMC</a:t>
            </a:r>
            <a:r>
              <a:rPr sz="1400" spc="3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Medical </a:t>
            </a:r>
            <a:r>
              <a:rPr sz="1400" dirty="0">
                <a:latin typeface="Times New Roman"/>
                <a:cs typeface="Times New Roman"/>
              </a:rPr>
              <a:t>Informatics and Decision Making, 22, 192. </a:t>
            </a:r>
            <a:r>
              <a:rPr sz="1400" spc="-10" dirty="0">
                <a:latin typeface="Times New Roman"/>
                <a:cs typeface="Times New Roman"/>
                <a:hlinkClick r:id="rId2"/>
              </a:rPr>
              <a:t>https://doi.org/10.1186/s12911-</a:t>
            </a:r>
            <a:r>
              <a:rPr sz="1400" spc="-20" dirty="0">
                <a:latin typeface="Times New Roman"/>
                <a:cs typeface="Times New Roman"/>
                <a:hlinkClick r:id="rId2"/>
              </a:rPr>
              <a:t>022-</a:t>
            </a:r>
            <a:r>
              <a:rPr sz="1400" spc="-10" dirty="0">
                <a:latin typeface="Times New Roman"/>
                <a:cs typeface="Times New Roman"/>
              </a:rPr>
              <a:t>01939-</a:t>
            </a:r>
            <a:r>
              <a:rPr sz="1400" spc="-50" dirty="0">
                <a:latin typeface="Times New Roman"/>
                <a:cs typeface="Times New Roman"/>
              </a:rPr>
              <a:t>x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2347</Words>
  <Application>Microsoft Office PowerPoint</Application>
  <PresentationFormat>Custom</PresentationFormat>
  <Paragraphs>119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konkala kishore</dc:creator>
  <cp:lastModifiedBy>charan teja</cp:lastModifiedBy>
  <cp:revision>1</cp:revision>
  <dcterms:created xsi:type="dcterms:W3CDTF">2026-08-26T19:51:25Z</dcterms:created>
  <dcterms:modified xsi:type="dcterms:W3CDTF">2026-08-26T19:52:25Z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2026-08-22T00:00:00Z</vt:filetime>
  </property>
  <property fmtid="{D5CDD505-2E9C-101B-9397-08002B2CF9AE}" pid="4" name="Creator">
    <vt:lpwstr>Microsoft® Word 2021</vt:lpwstr>
  </property>
  <property fmtid="{D5CDD505-2E9C-101B-9397-08002B2CF9AE}" pid="5" name="LastSaved">
    <vt:filetime>2026-08-26T00:00:00Z</vt:filetime>
  </property>
  <property fmtid="{D5CDD505-2E9C-101B-9397-08002B2CF9AE}" pid="6" name="Producer">
    <vt:lpwstr>Microsoft® Word 2021</vt:lpwstr>
  </property>
</Properties>
</file>